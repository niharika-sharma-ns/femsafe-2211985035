
<file path=[Content_Types].xml><?xml version="1.0" encoding="utf-8"?>
<Types xmlns="http://schemas.openxmlformats.org/package/2006/content-types">
  <Default Extension="png" ContentType="image/png"/>
  <Default Extension="tmp" ContentType="image/jpe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76" r:id="rId2"/>
    <p:sldId id="257" r:id="rId3"/>
    <p:sldId id="258" r:id="rId4"/>
    <p:sldId id="259" r:id="rId5"/>
    <p:sldId id="260" r:id="rId6"/>
    <p:sldId id="269" r:id="rId7"/>
    <p:sldId id="270" r:id="rId8"/>
    <p:sldId id="273" r:id="rId9"/>
    <p:sldId id="264" r:id="rId10"/>
    <p:sldId id="271" r:id="rId11"/>
    <p:sldId id="278" r:id="rId12"/>
    <p:sldId id="267" r:id="rId13"/>
    <p:sldId id="272" r:id="rId14"/>
    <p:sldId id="268" r:id="rId1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38D8ABB-6037-45B1-99E0-0A9E9E5DDD38}" type="datetimeFigureOut">
              <a:rPr lang="en-IN" smtClean="0"/>
              <a:t>30-04-2026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FD4970F-1896-48C6-9D9A-C8CC23B5BED9}" type="slidenum">
              <a:rPr lang="en-IN" smtClean="0"/>
              <a:t>‹#›</a:t>
            </a:fld>
            <a:endParaRPr lang="en-IN"/>
          </a:p>
        </p:txBody>
      </p:sp>
    </p:spTree>
    <p:extLst>
      <p:ext uri="{BB962C8B-B14F-4D97-AF65-F5344CB8AC3E}">
        <p14:creationId xmlns:p14="http://schemas.microsoft.com/office/powerpoint/2010/main" val="41812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D4970F-1896-48C6-9D9A-C8CC23B5BED9}" type="slidenum">
              <a:rPr lang="en-IN" smtClean="0"/>
              <a:t>3</a:t>
            </a:fld>
            <a:endParaRPr lang="en-IN"/>
          </a:p>
        </p:txBody>
      </p:sp>
    </p:spTree>
    <p:extLst>
      <p:ext uri="{BB962C8B-B14F-4D97-AF65-F5344CB8AC3E}">
        <p14:creationId xmlns:p14="http://schemas.microsoft.com/office/powerpoint/2010/main" val="2739850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6695573"/>
            <a:ext cx="9139301" cy="157663"/>
          </a:xfrm>
          <a:prstGeom prst="rect">
            <a:avLst/>
          </a:prstGeom>
        </p:spPr>
      </p:pic>
      <p:pic>
        <p:nvPicPr>
          <p:cNvPr id="18" name="bg object 18"/>
          <p:cNvPicPr/>
          <p:nvPr/>
        </p:nvPicPr>
        <p:blipFill>
          <a:blip r:embed="rId8" cstate="print"/>
          <a:stretch>
            <a:fillRect/>
          </a:stretch>
        </p:blipFill>
        <p:spPr>
          <a:xfrm>
            <a:off x="6553200" y="228600"/>
            <a:ext cx="2057400" cy="638175"/>
          </a:xfrm>
          <a:prstGeom prst="rect">
            <a:avLst/>
          </a:prstGeom>
        </p:spPr>
      </p:pic>
      <p:sp>
        <p:nvSpPr>
          <p:cNvPr id="19" name="bg object 19"/>
          <p:cNvSpPr/>
          <p:nvPr/>
        </p:nvSpPr>
        <p:spPr>
          <a:xfrm>
            <a:off x="6143625" y="0"/>
            <a:ext cx="3000375" cy="838200"/>
          </a:xfrm>
          <a:custGeom>
            <a:avLst/>
            <a:gdLst/>
            <a:ahLst/>
            <a:cxnLst/>
            <a:rect l="l" t="t" r="r" b="b"/>
            <a:pathLst>
              <a:path w="3000375" h="838200">
                <a:moveTo>
                  <a:pt x="3000375" y="0"/>
                </a:moveTo>
                <a:lnTo>
                  <a:pt x="0" y="0"/>
                </a:lnTo>
                <a:lnTo>
                  <a:pt x="0" y="838200"/>
                </a:lnTo>
                <a:lnTo>
                  <a:pt x="3000375" y="838200"/>
                </a:lnTo>
                <a:lnTo>
                  <a:pt x="3000375" y="0"/>
                </a:lnTo>
                <a:close/>
              </a:path>
            </a:pathLst>
          </a:custGeom>
          <a:solidFill>
            <a:srgbClr val="FF3300"/>
          </a:solidFill>
        </p:spPr>
        <p:txBody>
          <a:bodyPr wrap="square" lIns="0" tIns="0" rIns="0" bIns="0" rtlCol="0"/>
          <a:lstStyle/>
          <a:p>
            <a:endParaRPr/>
          </a:p>
        </p:txBody>
      </p:sp>
      <p:pic>
        <p:nvPicPr>
          <p:cNvPr id="20" name="bg object 20"/>
          <p:cNvPicPr/>
          <p:nvPr/>
        </p:nvPicPr>
        <p:blipFill>
          <a:blip r:embed="rId9" cstate="print"/>
          <a:stretch>
            <a:fillRect/>
          </a:stretch>
        </p:blipFill>
        <p:spPr>
          <a:xfrm>
            <a:off x="6553200" y="228600"/>
            <a:ext cx="2057400" cy="638175"/>
          </a:xfrm>
          <a:prstGeom prst="rect">
            <a:avLst/>
          </a:prstGeom>
        </p:spPr>
      </p:pic>
      <p:sp>
        <p:nvSpPr>
          <p:cNvPr id="21" name="bg object 21"/>
          <p:cNvSpPr/>
          <p:nvPr/>
        </p:nvSpPr>
        <p:spPr>
          <a:xfrm>
            <a:off x="6524625"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6629400" y="200025"/>
            <a:ext cx="1828800" cy="923925"/>
          </a:xfrm>
          <a:prstGeom prst="rect">
            <a:avLst/>
          </a:prstGeom>
        </p:spPr>
      </p:pic>
      <p:pic>
        <p:nvPicPr>
          <p:cNvPr id="23" name="bg object 23"/>
          <p:cNvPicPr/>
          <p:nvPr/>
        </p:nvPicPr>
        <p:blipFill>
          <a:blip r:embed="rId9" cstate="print"/>
          <a:stretch>
            <a:fillRect/>
          </a:stretch>
        </p:blipFill>
        <p:spPr>
          <a:xfrm>
            <a:off x="6553200" y="228600"/>
            <a:ext cx="2057400" cy="638175"/>
          </a:xfrm>
          <a:prstGeom prst="rect">
            <a:avLst/>
          </a:prstGeom>
        </p:spPr>
      </p:pic>
      <p:sp>
        <p:nvSpPr>
          <p:cNvPr id="24" name="bg object 24"/>
          <p:cNvSpPr/>
          <p:nvPr/>
        </p:nvSpPr>
        <p:spPr>
          <a:xfrm>
            <a:off x="6572250" y="0"/>
            <a:ext cx="2114550" cy="838200"/>
          </a:xfrm>
          <a:custGeom>
            <a:avLst/>
            <a:gdLst/>
            <a:ahLst/>
            <a:cxnLst/>
            <a:rect l="l" t="t" r="r" b="b"/>
            <a:pathLst>
              <a:path w="2114550" h="838200">
                <a:moveTo>
                  <a:pt x="2114550" y="0"/>
                </a:moveTo>
                <a:lnTo>
                  <a:pt x="0" y="0"/>
                </a:lnTo>
                <a:lnTo>
                  <a:pt x="0" y="838200"/>
                </a:lnTo>
                <a:lnTo>
                  <a:pt x="2114550" y="838200"/>
                </a:lnTo>
                <a:lnTo>
                  <a:pt x="2114550" y="0"/>
                </a:lnTo>
                <a:close/>
              </a:path>
            </a:pathLst>
          </a:custGeom>
          <a:solidFill>
            <a:srgbClr val="FF3300"/>
          </a:solidFill>
        </p:spPr>
        <p:txBody>
          <a:bodyPr wrap="square" lIns="0" tIns="0" rIns="0" bIns="0" rtlCol="0"/>
          <a:lstStyle/>
          <a:p>
            <a:endParaRPr/>
          </a:p>
        </p:txBody>
      </p:sp>
      <p:pic>
        <p:nvPicPr>
          <p:cNvPr id="25" name="bg object 25"/>
          <p:cNvPicPr/>
          <p:nvPr/>
        </p:nvPicPr>
        <p:blipFill>
          <a:blip r:embed="rId9" cstate="print"/>
          <a:stretch>
            <a:fillRect/>
          </a:stretch>
        </p:blipFill>
        <p:spPr>
          <a:xfrm>
            <a:off x="6572250" y="228600"/>
            <a:ext cx="1971675" cy="638175"/>
          </a:xfrm>
          <a:prstGeom prst="rect">
            <a:avLst/>
          </a:prstGeom>
        </p:spPr>
      </p:pic>
      <p:sp>
        <p:nvSpPr>
          <p:cNvPr id="26" name="bg object 26"/>
          <p:cNvSpPr/>
          <p:nvPr/>
        </p:nvSpPr>
        <p:spPr>
          <a:xfrm>
            <a:off x="6553200" y="190500"/>
            <a:ext cx="1981200" cy="685800"/>
          </a:xfrm>
          <a:custGeom>
            <a:avLst/>
            <a:gdLst/>
            <a:ahLst/>
            <a:cxnLst/>
            <a:rect l="l" t="t" r="r" b="b"/>
            <a:pathLst>
              <a:path w="1981200" h="685800">
                <a:moveTo>
                  <a:pt x="1981200" y="0"/>
                </a:moveTo>
                <a:lnTo>
                  <a:pt x="0" y="0"/>
                </a:lnTo>
                <a:lnTo>
                  <a:pt x="0" y="685800"/>
                </a:lnTo>
                <a:lnTo>
                  <a:pt x="1981200" y="685800"/>
                </a:lnTo>
                <a:lnTo>
                  <a:pt x="1981200" y="0"/>
                </a:lnTo>
                <a:close/>
              </a:path>
            </a:pathLst>
          </a:custGeom>
          <a:solidFill>
            <a:srgbClr val="FFFFFF"/>
          </a:solidFill>
        </p:spPr>
        <p:txBody>
          <a:bodyPr wrap="square" lIns="0" tIns="0" rIns="0" bIns="0" rtlCol="0"/>
          <a:lstStyle/>
          <a:p>
            <a:endParaRPr/>
          </a:p>
        </p:txBody>
      </p:sp>
      <p:pic>
        <p:nvPicPr>
          <p:cNvPr id="27" name="bg object 27"/>
          <p:cNvPicPr/>
          <p:nvPr/>
        </p:nvPicPr>
        <p:blipFill>
          <a:blip r:embed="rId10" cstate="print"/>
          <a:stretch>
            <a:fillRect/>
          </a:stretch>
        </p:blipFill>
        <p:spPr>
          <a:xfrm>
            <a:off x="6591300" y="200025"/>
            <a:ext cx="1828800" cy="923925"/>
          </a:xfrm>
          <a:prstGeom prst="rect">
            <a:avLst/>
          </a:prstGeom>
        </p:spPr>
      </p:pic>
      <p:sp>
        <p:nvSpPr>
          <p:cNvPr id="2" name="Holder 2"/>
          <p:cNvSpPr>
            <a:spLocks noGrp="1"/>
          </p:cNvSpPr>
          <p:nvPr>
            <p:ph type="title"/>
          </p:nvPr>
        </p:nvSpPr>
        <p:spPr>
          <a:xfrm>
            <a:off x="132397" y="99694"/>
            <a:ext cx="6238875" cy="691578"/>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46405" y="1352486"/>
            <a:ext cx="8295005" cy="4039235"/>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222" y="1071546"/>
            <a:ext cx="9501222" cy="1370888"/>
          </a:xfrm>
          <a:prstGeom prst="rect">
            <a:avLst/>
          </a:prstGeom>
        </p:spPr>
        <p:txBody>
          <a:bodyPr vert="horz" wrap="square" lIns="0" tIns="16510" rIns="0" bIns="0" rtlCol="0">
            <a:spAutoFit/>
          </a:bodyPr>
          <a:lstStyle/>
          <a:p>
            <a:pPr marL="12700" algn="ctr">
              <a:lnSpc>
                <a:spcPct val="100000"/>
              </a:lnSpc>
              <a:spcBef>
                <a:spcPts val="130"/>
              </a:spcBef>
            </a:pPr>
            <a:r>
              <a:rPr lang="en-IN" sz="4400" dirty="0" smtClean="0"/>
              <a:t>Industry Oriented Hands-on Experience</a:t>
            </a:r>
            <a:endParaRPr sz="4400" dirty="0"/>
          </a:p>
        </p:txBody>
      </p:sp>
      <p:sp>
        <p:nvSpPr>
          <p:cNvPr id="3" name="object 3"/>
          <p:cNvSpPr txBox="1"/>
          <p:nvPr/>
        </p:nvSpPr>
        <p:spPr>
          <a:xfrm>
            <a:off x="2580639" y="2186686"/>
            <a:ext cx="3827145" cy="2324354"/>
          </a:xfrm>
          <a:prstGeom prst="rect">
            <a:avLst/>
          </a:prstGeom>
        </p:spPr>
        <p:txBody>
          <a:bodyPr vert="horz" wrap="square" lIns="0" tIns="13335" rIns="0" bIns="0" rtlCol="0">
            <a:spAutoFit/>
          </a:bodyPr>
          <a:lstStyle/>
          <a:p>
            <a:pPr marL="4445" algn="ctr">
              <a:lnSpc>
                <a:spcPct val="100000"/>
              </a:lnSpc>
              <a:spcBef>
                <a:spcPts val="105"/>
              </a:spcBef>
            </a:pPr>
            <a:endParaRPr lang="en-US" sz="3600" b="1" spc="-25" dirty="0" smtClean="0">
              <a:latin typeface="Times New Roman"/>
              <a:cs typeface="Times New Roman"/>
            </a:endParaRPr>
          </a:p>
          <a:p>
            <a:pPr marL="4445" algn="ctr">
              <a:lnSpc>
                <a:spcPct val="100000"/>
              </a:lnSpc>
              <a:spcBef>
                <a:spcPts val="105"/>
              </a:spcBef>
            </a:pPr>
            <a:r>
              <a:rPr lang="en-US" sz="3600" b="1" dirty="0" smtClean="0">
                <a:latin typeface="Times New Roman"/>
                <a:cs typeface="Times New Roman"/>
              </a:rPr>
              <a:t>on</a:t>
            </a:r>
            <a:endParaRPr sz="3600" b="1" dirty="0" smtClean="0">
              <a:latin typeface="Times New Roman"/>
              <a:cs typeface="Times New Roman"/>
            </a:endParaRPr>
          </a:p>
          <a:p>
            <a:pPr algn="ctr">
              <a:lnSpc>
                <a:spcPct val="100000"/>
              </a:lnSpc>
              <a:spcBef>
                <a:spcPts val="285"/>
              </a:spcBef>
            </a:pPr>
            <a:r>
              <a:rPr lang="en-US" sz="4400" b="1" i="1" dirty="0" err="1" smtClean="0">
                <a:latin typeface="Times New Roman"/>
                <a:cs typeface="Times New Roman"/>
              </a:rPr>
              <a:t>FEMsafe</a:t>
            </a:r>
            <a:endParaRPr sz="4400" dirty="0" smtClean="0">
              <a:latin typeface="Times New Roman"/>
              <a:cs typeface="Times New Roman"/>
            </a:endParaRPr>
          </a:p>
          <a:p>
            <a:pPr marL="6350" algn="ctr">
              <a:lnSpc>
                <a:spcPct val="100000"/>
              </a:lnSpc>
              <a:spcBef>
                <a:spcPts val="425"/>
              </a:spcBef>
            </a:pPr>
            <a:r>
              <a:rPr sz="2750" i="1" dirty="0" smtClean="0">
                <a:latin typeface="Times New Roman"/>
                <a:cs typeface="Times New Roman"/>
              </a:rPr>
              <a:t>(</a:t>
            </a:r>
            <a:r>
              <a:rPr sz="2750" i="1" dirty="0">
                <a:latin typeface="Times New Roman"/>
                <a:cs typeface="Times New Roman"/>
              </a:rPr>
              <a:t>Course</a:t>
            </a:r>
            <a:r>
              <a:rPr sz="2750" i="1" spc="90" dirty="0">
                <a:latin typeface="Times New Roman"/>
                <a:cs typeface="Times New Roman"/>
              </a:rPr>
              <a:t> </a:t>
            </a:r>
            <a:r>
              <a:rPr sz="2750" i="1" dirty="0">
                <a:latin typeface="Times New Roman"/>
                <a:cs typeface="Times New Roman"/>
              </a:rPr>
              <a:t>Code:</a:t>
            </a:r>
            <a:r>
              <a:rPr sz="2750" i="1" spc="110" dirty="0">
                <a:latin typeface="Times New Roman"/>
                <a:cs typeface="Times New Roman"/>
              </a:rPr>
              <a:t> </a:t>
            </a:r>
            <a:r>
              <a:rPr lang="en-US" sz="2750" i="1" spc="-10" dirty="0" smtClean="0">
                <a:latin typeface="Times New Roman"/>
                <a:cs typeface="Times New Roman"/>
              </a:rPr>
              <a:t>22CS422</a:t>
            </a:r>
            <a:r>
              <a:rPr sz="2750" i="1" spc="-10" dirty="0" smtClean="0">
                <a:latin typeface="Times New Roman"/>
                <a:cs typeface="Times New Roman"/>
              </a:rPr>
              <a:t>)</a:t>
            </a:r>
            <a:endParaRPr lang="en-US" sz="2750" i="1" spc="-10" dirty="0" smtClean="0">
              <a:latin typeface="Times New Roman"/>
              <a:cs typeface="Times New Roman"/>
            </a:endParaRPr>
          </a:p>
        </p:txBody>
      </p:sp>
      <p:sp>
        <p:nvSpPr>
          <p:cNvPr id="4" name="object 4"/>
          <p:cNvSpPr txBox="1"/>
          <p:nvPr/>
        </p:nvSpPr>
        <p:spPr>
          <a:xfrm>
            <a:off x="368617" y="4483163"/>
            <a:ext cx="3283585" cy="961802"/>
          </a:xfrm>
          <a:prstGeom prst="rect">
            <a:avLst/>
          </a:prstGeom>
        </p:spPr>
        <p:txBody>
          <a:bodyPr vert="horz" wrap="square" lIns="0" tIns="53340" rIns="0" bIns="0" rtlCol="0">
            <a:spAutoFit/>
          </a:bodyPr>
          <a:lstStyle/>
          <a:p>
            <a:pPr marL="12700">
              <a:lnSpc>
                <a:spcPct val="100000"/>
              </a:lnSpc>
              <a:spcBef>
                <a:spcPts val="420"/>
              </a:spcBef>
            </a:pPr>
            <a:endParaRPr lang="en-US" sz="1800" b="1" dirty="0" smtClean="0">
              <a:latin typeface="Times New Roman"/>
              <a:cs typeface="Times New Roman"/>
            </a:endParaRPr>
          </a:p>
          <a:p>
            <a:pPr marL="12700">
              <a:lnSpc>
                <a:spcPct val="100000"/>
              </a:lnSpc>
              <a:spcBef>
                <a:spcPts val="420"/>
              </a:spcBef>
            </a:pPr>
            <a:r>
              <a:rPr sz="1800" b="1" dirty="0" smtClean="0">
                <a:latin typeface="Times New Roman"/>
                <a:cs typeface="Times New Roman"/>
              </a:rPr>
              <a:t>Presented</a:t>
            </a:r>
            <a:r>
              <a:rPr sz="1800" b="1" spc="-30" dirty="0" smtClean="0">
                <a:latin typeface="Times New Roman"/>
                <a:cs typeface="Times New Roman"/>
              </a:rPr>
              <a:t> </a:t>
            </a:r>
            <a:r>
              <a:rPr sz="1800" b="1" spc="-25" dirty="0">
                <a:latin typeface="Times New Roman"/>
                <a:cs typeface="Times New Roman"/>
              </a:rPr>
              <a:t>By:</a:t>
            </a:r>
            <a:endParaRPr sz="1800" dirty="0">
              <a:latin typeface="Times New Roman"/>
              <a:cs typeface="Times New Roman"/>
            </a:endParaRPr>
          </a:p>
          <a:p>
            <a:pPr marL="12700">
              <a:lnSpc>
                <a:spcPct val="100000"/>
              </a:lnSpc>
              <a:spcBef>
                <a:spcPts val="240"/>
              </a:spcBef>
              <a:tabLst>
                <a:tab pos="527050" algn="l"/>
              </a:tabLst>
            </a:pPr>
            <a:r>
              <a:rPr lang="en-US" dirty="0" smtClean="0">
                <a:latin typeface="Times New Roman"/>
                <a:cs typeface="Times New Roman"/>
              </a:rPr>
              <a:t>1. </a:t>
            </a:r>
            <a:r>
              <a:rPr lang="en-US" dirty="0" err="1" smtClean="0">
                <a:latin typeface="Times New Roman"/>
                <a:cs typeface="Times New Roman"/>
              </a:rPr>
              <a:t>Niharika</a:t>
            </a:r>
            <a:r>
              <a:rPr lang="en-US" dirty="0" smtClean="0">
                <a:latin typeface="Times New Roman"/>
                <a:cs typeface="Times New Roman"/>
              </a:rPr>
              <a:t>(2211985035)</a:t>
            </a:r>
            <a:endParaRPr sz="1800" dirty="0">
              <a:latin typeface="Times New Roman"/>
              <a:cs typeface="Times New Roman"/>
            </a:endParaRPr>
          </a:p>
        </p:txBody>
      </p:sp>
      <p:sp>
        <p:nvSpPr>
          <p:cNvPr id="5" name="object 5"/>
          <p:cNvSpPr txBox="1"/>
          <p:nvPr/>
        </p:nvSpPr>
        <p:spPr>
          <a:xfrm>
            <a:off x="8605266" y="6438582"/>
            <a:ext cx="102870" cy="208915"/>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1</a:t>
            </a:r>
            <a:endParaRPr sz="1200">
              <a:latin typeface="Calibri"/>
              <a:cs typeface="Calibri"/>
            </a:endParaRPr>
          </a:p>
        </p:txBody>
      </p:sp>
    </p:spTree>
    <p:extLst>
      <p:ext uri="{BB962C8B-B14F-4D97-AF65-F5344CB8AC3E}">
        <p14:creationId xmlns:p14="http://schemas.microsoft.com/office/powerpoint/2010/main" val="33650452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3" name="object 3"/>
          <p:cNvPicPr/>
          <p:nvPr/>
        </p:nvPicPr>
        <p:blipFill>
          <a:blip r:embed="rId2" cstate="print"/>
          <a:stretch>
            <a:fillRect/>
          </a:stretch>
        </p:blipFill>
        <p:spPr>
          <a:xfrm>
            <a:off x="0" y="6695573"/>
            <a:ext cx="9139301" cy="157663"/>
          </a:xfrm>
          <a:prstGeom prst="rect">
            <a:avLst/>
          </a:prstGeom>
        </p:spPr>
      </p:pic>
      <p:grpSp>
        <p:nvGrpSpPr>
          <p:cNvPr id="4" name="object 4"/>
          <p:cNvGrpSpPr/>
          <p:nvPr/>
        </p:nvGrpSpPr>
        <p:grpSpPr>
          <a:xfrm>
            <a:off x="6143625" y="0"/>
            <a:ext cx="3000375" cy="1123950"/>
            <a:chOff x="6143625" y="0"/>
            <a:chExt cx="3000375" cy="1123950"/>
          </a:xfrm>
        </p:grpSpPr>
        <p:pic>
          <p:nvPicPr>
            <p:cNvPr id="5" name="object 5"/>
            <p:cNvPicPr/>
            <p:nvPr/>
          </p:nvPicPr>
          <p:blipFill>
            <a:blip r:embed="rId3" cstate="print"/>
            <a:stretch>
              <a:fillRect/>
            </a:stretch>
          </p:blipFill>
          <p:spPr>
            <a:xfrm>
              <a:off x="6553200" y="228600"/>
              <a:ext cx="2057400" cy="638175"/>
            </a:xfrm>
            <a:prstGeom prst="rect">
              <a:avLst/>
            </a:prstGeom>
          </p:spPr>
        </p:pic>
        <p:sp>
          <p:nvSpPr>
            <p:cNvPr id="6" name="object 6"/>
            <p:cNvSpPr/>
            <p:nvPr/>
          </p:nvSpPr>
          <p:spPr>
            <a:xfrm>
              <a:off x="6143625" y="0"/>
              <a:ext cx="3000375" cy="838200"/>
            </a:xfrm>
            <a:custGeom>
              <a:avLst/>
              <a:gdLst/>
              <a:ahLst/>
              <a:cxnLst/>
              <a:rect l="l" t="t" r="r" b="b"/>
              <a:pathLst>
                <a:path w="3000375" h="838200">
                  <a:moveTo>
                    <a:pt x="3000375" y="0"/>
                  </a:moveTo>
                  <a:lnTo>
                    <a:pt x="0" y="0"/>
                  </a:lnTo>
                  <a:lnTo>
                    <a:pt x="0" y="838200"/>
                  </a:lnTo>
                  <a:lnTo>
                    <a:pt x="3000375" y="838200"/>
                  </a:lnTo>
                  <a:lnTo>
                    <a:pt x="3000375" y="0"/>
                  </a:lnTo>
                  <a:close/>
                </a:path>
              </a:pathLst>
            </a:custGeom>
            <a:solidFill>
              <a:srgbClr val="FF3300"/>
            </a:solidFill>
          </p:spPr>
          <p:txBody>
            <a:bodyPr wrap="square" lIns="0" tIns="0" rIns="0" bIns="0" rtlCol="0"/>
            <a:lstStyle/>
            <a:p>
              <a:endParaRPr/>
            </a:p>
          </p:txBody>
        </p:sp>
        <p:pic>
          <p:nvPicPr>
            <p:cNvPr id="7" name="object 7"/>
            <p:cNvPicPr/>
            <p:nvPr/>
          </p:nvPicPr>
          <p:blipFill>
            <a:blip r:embed="rId4" cstate="print"/>
            <a:stretch>
              <a:fillRect/>
            </a:stretch>
          </p:blipFill>
          <p:spPr>
            <a:xfrm>
              <a:off x="6553200" y="228600"/>
              <a:ext cx="2057400" cy="638175"/>
            </a:xfrm>
            <a:prstGeom prst="rect">
              <a:avLst/>
            </a:prstGeom>
          </p:spPr>
        </p:pic>
        <p:sp>
          <p:nvSpPr>
            <p:cNvPr id="8" name="object 8"/>
            <p:cNvSpPr/>
            <p:nvPr/>
          </p:nvSpPr>
          <p:spPr>
            <a:xfrm>
              <a:off x="6524625"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9" name="object 9"/>
            <p:cNvPicPr/>
            <p:nvPr/>
          </p:nvPicPr>
          <p:blipFill>
            <a:blip r:embed="rId5" cstate="print"/>
            <a:stretch>
              <a:fillRect/>
            </a:stretch>
          </p:blipFill>
          <p:spPr>
            <a:xfrm>
              <a:off x="6629400" y="200025"/>
              <a:ext cx="1828800" cy="923925"/>
            </a:xfrm>
            <a:prstGeom prst="rect">
              <a:avLst/>
            </a:prstGeom>
          </p:spPr>
        </p:pic>
      </p:grpSp>
      <p:sp>
        <p:nvSpPr>
          <p:cNvPr id="10" name="object 10"/>
          <p:cNvSpPr txBox="1">
            <a:spLocks noGrp="1"/>
          </p:cNvSpPr>
          <p:nvPr>
            <p:ph type="title"/>
          </p:nvPr>
        </p:nvSpPr>
        <p:spPr>
          <a:prstGeom prst="rect">
            <a:avLst/>
          </a:prstGeom>
        </p:spPr>
        <p:txBody>
          <a:bodyPr vert="horz" wrap="square" lIns="0" tIns="16510" rIns="0" bIns="0" rtlCol="0">
            <a:spAutoFit/>
          </a:bodyPr>
          <a:lstStyle/>
          <a:p>
            <a:pPr marL="512445">
              <a:lnSpc>
                <a:spcPct val="100000"/>
              </a:lnSpc>
              <a:spcBef>
                <a:spcPts val="130"/>
              </a:spcBef>
            </a:pPr>
            <a:r>
              <a:rPr sz="2750" u="sng" dirty="0">
                <a:uFill>
                  <a:solidFill>
                    <a:srgbClr val="000000"/>
                  </a:solidFill>
                </a:uFill>
              </a:rPr>
              <a:t>Sustainable</a:t>
            </a:r>
            <a:r>
              <a:rPr sz="2750" u="sng" spc="200" dirty="0">
                <a:uFill>
                  <a:solidFill>
                    <a:srgbClr val="000000"/>
                  </a:solidFill>
                </a:uFill>
              </a:rPr>
              <a:t> </a:t>
            </a:r>
            <a:r>
              <a:rPr sz="2750" u="sng" dirty="0">
                <a:uFill>
                  <a:solidFill>
                    <a:srgbClr val="000000"/>
                  </a:solidFill>
                </a:uFill>
              </a:rPr>
              <a:t>Development</a:t>
            </a:r>
            <a:r>
              <a:rPr sz="2750" u="sng" spc="210" dirty="0">
                <a:uFill>
                  <a:solidFill>
                    <a:srgbClr val="000000"/>
                  </a:solidFill>
                </a:uFill>
              </a:rPr>
              <a:t> </a:t>
            </a:r>
            <a:r>
              <a:rPr sz="2750" u="sng" spc="-10" dirty="0">
                <a:uFill>
                  <a:solidFill>
                    <a:srgbClr val="000000"/>
                  </a:solidFill>
                </a:uFill>
              </a:rPr>
              <a:t>Goals</a:t>
            </a:r>
            <a:endParaRPr sz="2750"/>
          </a:p>
        </p:txBody>
      </p:sp>
      <p:sp>
        <p:nvSpPr>
          <p:cNvPr id="11" name="object 11"/>
          <p:cNvSpPr txBox="1"/>
          <p:nvPr/>
        </p:nvSpPr>
        <p:spPr>
          <a:xfrm>
            <a:off x="345757" y="1423987"/>
            <a:ext cx="7743190" cy="3661259"/>
          </a:xfrm>
          <a:prstGeom prst="rect">
            <a:avLst/>
          </a:prstGeom>
        </p:spPr>
        <p:txBody>
          <a:bodyPr vert="horz" wrap="square" lIns="0" tIns="100330" rIns="0" bIns="0" rtlCol="0">
            <a:spAutoFit/>
          </a:bodyPr>
          <a:lstStyle/>
          <a:p>
            <a:pPr marL="182880" indent="-174625">
              <a:lnSpc>
                <a:spcPct val="100000"/>
              </a:lnSpc>
              <a:spcBef>
                <a:spcPts val="790"/>
              </a:spcBef>
              <a:buSzPct val="94444"/>
              <a:buAutoNum type="arabicPeriod"/>
              <a:tabLst>
                <a:tab pos="182880" algn="l"/>
              </a:tabLst>
            </a:pPr>
            <a:r>
              <a:rPr lang="en-IN" b="1" dirty="0">
                <a:latin typeface="Times New Roman" panose="02020603050405020304" pitchFamily="18" charset="0"/>
                <a:cs typeface="Times New Roman" panose="02020603050405020304" pitchFamily="18" charset="0"/>
              </a:rPr>
              <a:t>SDG 5: Gender Equality</a:t>
            </a:r>
            <a:endParaRPr lang="en-US" sz="1800" b="1" dirty="0">
              <a:latin typeface="Times New Roman" panose="02020603050405020304" pitchFamily="18" charset="0"/>
              <a:cs typeface="Times New Roman" panose="02020603050405020304" pitchFamily="18" charset="0"/>
            </a:endParaRPr>
          </a:p>
          <a:p>
            <a:pPr marL="298450" lvl="1" indent="-285750">
              <a:lnSpc>
                <a:spcPct val="100000"/>
              </a:lnSpc>
              <a:spcBef>
                <a:spcPts val="695"/>
              </a:spcBef>
              <a:buFont typeface="Arial MT"/>
              <a:buChar char="•"/>
              <a:tabLst>
                <a:tab pos="298450" algn="l"/>
              </a:tabLst>
            </a:pPr>
            <a:r>
              <a:rPr lang="en-IN" dirty="0">
                <a:latin typeface="Calibri "/>
              </a:rPr>
              <a:t>Reduces gender-based violence risks.</a:t>
            </a:r>
          </a:p>
          <a:p>
            <a:pPr marL="298450" lvl="1" indent="-285750">
              <a:lnSpc>
                <a:spcPct val="100000"/>
              </a:lnSpc>
              <a:spcBef>
                <a:spcPts val="695"/>
              </a:spcBef>
              <a:buFont typeface="Arial MT"/>
              <a:buChar char="•"/>
              <a:tabLst>
                <a:tab pos="298450" algn="l"/>
              </a:tabLst>
            </a:pPr>
            <a:r>
              <a:rPr lang="en-US" dirty="0"/>
              <a:t>Creates safer mobility options (night-time vetted taxis).</a:t>
            </a:r>
            <a:r>
              <a:rPr lang="en-US" sz="1800" spc="-10" dirty="0">
                <a:latin typeface="Calibri"/>
                <a:cs typeface="Calibri"/>
              </a:rPr>
              <a:t>.</a:t>
            </a:r>
            <a:endParaRPr lang="en-US" sz="1800" dirty="0">
              <a:latin typeface="Calibri"/>
              <a:cs typeface="Calibri"/>
            </a:endParaRPr>
          </a:p>
          <a:p>
            <a:pPr marL="298450" lvl="1" indent="-285750">
              <a:spcBef>
                <a:spcPts val="390"/>
              </a:spcBef>
              <a:buFont typeface="Arial MT"/>
              <a:buChar char="•"/>
              <a:tabLst>
                <a:tab pos="298450" algn="l"/>
              </a:tabLst>
            </a:pPr>
            <a:r>
              <a:rPr lang="en-US" dirty="0">
                <a:latin typeface="Calibri" panose="020F0502020204030204" pitchFamily="34" charset="0"/>
                <a:ea typeface="Calibri" panose="020F0502020204030204" pitchFamily="34" charset="0"/>
                <a:cs typeface="Calibri" panose="020F0502020204030204" pitchFamily="34" charset="0"/>
              </a:rPr>
              <a:t>Builds confidence and independence among girls and women.</a:t>
            </a:r>
          </a:p>
          <a:p>
            <a:pPr marL="298450" lvl="1" indent="-285750">
              <a:spcBef>
                <a:spcPts val="390"/>
              </a:spcBef>
              <a:buFont typeface="Arial MT"/>
              <a:buChar char="•"/>
              <a:tabLst>
                <a:tab pos="298450" algn="l"/>
              </a:tabLst>
            </a:pPr>
            <a:endParaRPr lang="en-US" sz="1800" dirty="0">
              <a:latin typeface="Times New Roman"/>
              <a:cs typeface="Times New Roman"/>
            </a:endParaRPr>
          </a:p>
          <a:p>
            <a:pPr marL="182880" indent="-174625">
              <a:lnSpc>
                <a:spcPct val="100000"/>
              </a:lnSpc>
              <a:buSzPct val="94444"/>
              <a:buAutoNum type="arabicPeriod" startAt="2"/>
              <a:tabLst>
                <a:tab pos="182880" algn="l"/>
              </a:tabLst>
            </a:pPr>
            <a:r>
              <a:rPr lang="en-US" b="1" dirty="0">
                <a:latin typeface="Times New Roman" panose="02020603050405020304" pitchFamily="18" charset="0"/>
                <a:cs typeface="Times New Roman" panose="02020603050405020304" pitchFamily="18" charset="0"/>
              </a:rPr>
              <a:t>SDG 11: Sustainable Cities and Communities</a:t>
            </a:r>
          </a:p>
          <a:p>
            <a:pPr marL="144145" lvl="1" indent="-131445">
              <a:lnSpc>
                <a:spcPct val="100000"/>
              </a:lnSpc>
              <a:spcBef>
                <a:spcPts val="470"/>
              </a:spcBef>
              <a:buFont typeface="Arial MT"/>
              <a:buChar char="•"/>
              <a:tabLst>
                <a:tab pos="144145" algn="l"/>
              </a:tabLst>
            </a:pPr>
            <a:r>
              <a:rPr lang="en-US" dirty="0">
                <a:latin typeface="+mj-lt"/>
              </a:rPr>
              <a:t>Vetted taxi drivers and live tracking contribute to safer transport systems</a:t>
            </a:r>
            <a:endParaRPr sz="1800" dirty="0">
              <a:latin typeface="+mj-lt"/>
              <a:cs typeface="Calibri"/>
            </a:endParaRPr>
          </a:p>
          <a:p>
            <a:pPr marL="144145" lvl="1" indent="-131445">
              <a:lnSpc>
                <a:spcPct val="100000"/>
              </a:lnSpc>
              <a:spcBef>
                <a:spcPts val="390"/>
              </a:spcBef>
              <a:buFont typeface="Arial MT"/>
              <a:buChar char="•"/>
              <a:tabLst>
                <a:tab pos="144145" algn="l"/>
              </a:tabLst>
            </a:pPr>
            <a:r>
              <a:rPr lang="en-US" dirty="0">
                <a:latin typeface="Calibri" panose="020F0502020204030204" pitchFamily="34" charset="0"/>
                <a:ea typeface="Calibri" panose="020F0502020204030204" pitchFamily="34" charset="0"/>
                <a:cs typeface="Calibri" panose="020F0502020204030204" pitchFamily="34" charset="0"/>
              </a:rPr>
              <a:t>Integration with law enforcement creates stronger, community-based safety infrastructure.</a:t>
            </a:r>
            <a:endParaRPr sz="1800" dirty="0">
              <a:latin typeface="Calibri" panose="020F0502020204030204" pitchFamily="34" charset="0"/>
              <a:ea typeface="Calibri" panose="020F0502020204030204" pitchFamily="34" charset="0"/>
              <a:cs typeface="Calibri" panose="020F0502020204030204" pitchFamily="34" charset="0"/>
            </a:endParaRPr>
          </a:p>
          <a:p>
            <a:pPr marL="144145" lvl="1" indent="-131445">
              <a:lnSpc>
                <a:spcPct val="100000"/>
              </a:lnSpc>
              <a:spcBef>
                <a:spcPts val="470"/>
              </a:spcBef>
              <a:buFont typeface="Arial MT"/>
              <a:buChar char="•"/>
              <a:tabLst>
                <a:tab pos="144145" algn="l"/>
              </a:tabLst>
            </a:pPr>
            <a:r>
              <a:rPr lang="en-US" dirty="0" err="1">
                <a:latin typeface="Calibri" panose="020F0502020204030204" pitchFamily="34" charset="0"/>
                <a:ea typeface="Calibri" panose="020F0502020204030204" pitchFamily="34" charset="0"/>
                <a:cs typeface="Calibri" panose="020F0502020204030204" pitchFamily="34" charset="0"/>
              </a:rPr>
              <a:t>FEMsafe</a:t>
            </a:r>
            <a:r>
              <a:rPr lang="en-US" dirty="0">
                <a:latin typeface="Calibri" panose="020F0502020204030204" pitchFamily="34" charset="0"/>
                <a:ea typeface="Calibri" panose="020F0502020204030204" pitchFamily="34" charset="0"/>
                <a:cs typeface="Calibri" panose="020F0502020204030204" pitchFamily="34" charset="0"/>
              </a:rPr>
              <a:t> fosters inclusive, safe, and resilient public spaces for girls.</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12700" lvl="1">
              <a:lnSpc>
                <a:spcPct val="100000"/>
              </a:lnSpc>
              <a:spcBef>
                <a:spcPts val="395"/>
              </a:spcBef>
              <a:tabLst>
                <a:tab pos="144145" algn="l"/>
              </a:tabLst>
            </a:pPr>
            <a:endParaRPr sz="1800" dirty="0">
              <a:latin typeface="Calibri"/>
              <a:cs typeface="Calibri"/>
            </a:endParaRPr>
          </a:p>
        </p:txBody>
      </p:sp>
      <p:pic>
        <p:nvPicPr>
          <p:cNvPr id="13" name="object 13"/>
          <p:cNvPicPr/>
          <p:nvPr/>
        </p:nvPicPr>
        <p:blipFill>
          <a:blip r:embed="rId6" cstate="print"/>
          <a:stretch>
            <a:fillRect/>
          </a:stretch>
        </p:blipFill>
        <p:spPr>
          <a:xfrm>
            <a:off x="7686675" y="3829050"/>
            <a:ext cx="923925" cy="914400"/>
          </a:xfrm>
          <a:prstGeom prst="rect">
            <a:avLst/>
          </a:prstGeom>
        </p:spPr>
      </p:pic>
      <p:pic>
        <p:nvPicPr>
          <p:cNvPr id="1028" name="Picture 4">
            <a:extLst>
              <a:ext uri="{FF2B5EF4-FFF2-40B4-BE49-F238E27FC236}">
                <a16:creationId xmlns:a16="http://schemas.microsoft.com/office/drawing/2014/main" id="{D9EF0111-0682-8A71-D7D5-9AD7BAEDEEB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89960" y="1671637"/>
            <a:ext cx="923925" cy="91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9928" rIns="0" bIns="0" rtlCol="0">
            <a:spAutoFit/>
          </a:bodyPr>
          <a:lstStyle/>
          <a:p>
            <a:pPr marL="2021205">
              <a:lnSpc>
                <a:spcPct val="100000"/>
              </a:lnSpc>
              <a:spcBef>
                <a:spcPts val="125"/>
              </a:spcBef>
            </a:pPr>
            <a:r>
              <a:rPr spc="-10" dirty="0"/>
              <a:t>Introduction</a:t>
            </a:r>
          </a:p>
        </p:txBody>
      </p:sp>
      <p:sp>
        <p:nvSpPr>
          <p:cNvPr id="3" name="object 3"/>
          <p:cNvSpPr txBox="1"/>
          <p:nvPr/>
        </p:nvSpPr>
        <p:spPr>
          <a:xfrm>
            <a:off x="75882" y="1145857"/>
            <a:ext cx="8923020" cy="5334794"/>
          </a:xfrm>
          <a:prstGeom prst="rect">
            <a:avLst/>
          </a:prstGeom>
        </p:spPr>
        <p:txBody>
          <a:bodyPr vert="horz" wrap="square" lIns="0" tIns="12700" rIns="0" bIns="0" rtlCol="0">
            <a:spAutoFit/>
          </a:bodyPr>
          <a:lstStyle/>
          <a:p>
            <a:pPr marL="12700">
              <a:lnSpc>
                <a:spcPct val="100000"/>
              </a:lnSpc>
            </a:pPr>
            <a:r>
              <a:rPr lang="en-US" dirty="0" smtClean="0">
                <a:latin typeface="+mj-lt"/>
                <a:cs typeface="Times New Roman"/>
              </a:rPr>
              <a:t>In many regions, especially in urban and semi-urban areas, women often face safety concerns during emergencies and while traveling alone. Traditional safety measures mainly depend on manual communication, which can lead to delays in critical situations. There is often no quick and organized way to alert others or access help instantly.</a:t>
            </a:r>
          </a:p>
          <a:p>
            <a:pPr marL="12700">
              <a:lnSpc>
                <a:spcPct val="100000"/>
              </a:lnSpc>
            </a:pPr>
            <a:r>
              <a:rPr lang="en-US" dirty="0" smtClean="0">
                <a:latin typeface="+mj-lt"/>
                <a:cs typeface="Times New Roman"/>
              </a:rPr>
              <a:t>Our project aims to solve this problem by developing a digital platform (</a:t>
            </a:r>
            <a:r>
              <a:rPr lang="en-US" dirty="0" err="1" smtClean="0">
                <a:latin typeface="+mj-lt"/>
                <a:cs typeface="Times New Roman"/>
              </a:rPr>
              <a:t>FEMsafe</a:t>
            </a:r>
            <a:r>
              <a:rPr lang="en-US" dirty="0" smtClean="0">
                <a:latin typeface="+mj-lt"/>
                <a:cs typeface="Times New Roman"/>
              </a:rPr>
              <a:t>) that provides quick emergency support through a simple web interface. It allows users to send SOS alerts, manage emergency contacts, and access safer travel options when needed. This system improves response time, enhances personal security, and promotes the use of technology for social good.</a:t>
            </a:r>
          </a:p>
          <a:p>
            <a:pPr marL="12700">
              <a:lnSpc>
                <a:spcPct val="100000"/>
              </a:lnSpc>
            </a:pPr>
            <a:endParaRPr lang="en-US" dirty="0" smtClean="0">
              <a:latin typeface="+mj-lt"/>
              <a:cs typeface="Times New Roman"/>
            </a:endParaRPr>
          </a:p>
          <a:p>
            <a:pPr marL="12700">
              <a:lnSpc>
                <a:spcPct val="100000"/>
              </a:lnSpc>
            </a:pPr>
            <a:endParaRPr lang="en-US" dirty="0" smtClean="0">
              <a:latin typeface="+mj-lt"/>
              <a:cs typeface="Times New Roman"/>
            </a:endParaRPr>
          </a:p>
          <a:p>
            <a:pPr marL="355600" indent="-342900">
              <a:lnSpc>
                <a:spcPct val="100000"/>
              </a:lnSpc>
              <a:buFont typeface="Wingdings" panose="05000000000000000000" pitchFamily="2" charset="2"/>
              <a:buChar char="Ø"/>
            </a:pPr>
            <a:r>
              <a:rPr sz="2400" b="1" dirty="0" smtClean="0">
                <a:latin typeface="Times New Roman"/>
                <a:cs typeface="Times New Roman"/>
              </a:rPr>
              <a:t>Key</a:t>
            </a:r>
            <a:r>
              <a:rPr sz="2400" b="1" spc="-45" dirty="0" smtClean="0">
                <a:latin typeface="Times New Roman"/>
                <a:cs typeface="Times New Roman"/>
              </a:rPr>
              <a:t> </a:t>
            </a:r>
            <a:r>
              <a:rPr sz="2400" b="1" dirty="0">
                <a:latin typeface="Times New Roman"/>
                <a:cs typeface="Times New Roman"/>
              </a:rPr>
              <a:t>Features</a:t>
            </a:r>
            <a:r>
              <a:rPr sz="2400" b="1" spc="-75" dirty="0">
                <a:latin typeface="Times New Roman"/>
                <a:cs typeface="Times New Roman"/>
              </a:rPr>
              <a:t> </a:t>
            </a:r>
            <a:r>
              <a:rPr sz="2400" b="1" spc="-50" dirty="0">
                <a:latin typeface="Times New Roman"/>
                <a:cs typeface="Times New Roman"/>
              </a:rPr>
              <a:t>:</a:t>
            </a:r>
            <a:endParaRPr sz="2400" dirty="0">
              <a:latin typeface="Times New Roman"/>
              <a:cs typeface="Times New Roman"/>
            </a:endParaRPr>
          </a:p>
          <a:p>
            <a:pPr marL="298450" indent="-285750">
              <a:buFont typeface="Arial" panose="020B0604020202020204" pitchFamily="34" charset="0"/>
              <a:buChar char="•"/>
              <a:tabLst>
                <a:tab pos="355600" algn="l"/>
              </a:tabLst>
            </a:pPr>
            <a:r>
              <a:rPr lang="en-IN" b="1" dirty="0" smtClean="0">
                <a:latin typeface="Times New Roman" panose="02020603050405020304" pitchFamily="18" charset="0"/>
                <a:cs typeface="Times New Roman" panose="02020603050405020304" pitchFamily="18" charset="0"/>
              </a:rPr>
              <a:t>  Emergency </a:t>
            </a:r>
            <a:r>
              <a:rPr lang="en-IN" b="1" dirty="0">
                <a:latin typeface="Times New Roman" panose="02020603050405020304" pitchFamily="18" charset="0"/>
                <a:cs typeface="Times New Roman" panose="02020603050405020304" pitchFamily="18" charset="0"/>
              </a:rPr>
              <a:t>SOS </a:t>
            </a:r>
            <a:r>
              <a:rPr lang="en-IN" b="1" dirty="0" smtClean="0">
                <a:latin typeface="Times New Roman" panose="02020603050405020304" pitchFamily="18" charset="0"/>
                <a:cs typeface="Times New Roman" panose="02020603050405020304" pitchFamily="18" charset="0"/>
              </a:rPr>
              <a:t>Button</a:t>
            </a:r>
          </a:p>
          <a:p>
            <a:pPr marL="298450" indent="-285750">
              <a:buFont typeface="Arial" panose="020B0604020202020204" pitchFamily="34" charset="0"/>
              <a:buChar char="•"/>
              <a:tabLst>
                <a:tab pos="355600" algn="l"/>
              </a:tabLst>
            </a:pPr>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 Night-Time </a:t>
            </a:r>
            <a:r>
              <a:rPr lang="en-IN" b="1" dirty="0">
                <a:latin typeface="Times New Roman" panose="02020603050405020304" pitchFamily="18" charset="0"/>
                <a:cs typeface="Times New Roman" panose="02020603050405020304" pitchFamily="18" charset="0"/>
              </a:rPr>
              <a:t>Taxi Booking</a:t>
            </a:r>
            <a:endParaRPr lang="en-IN" sz="1800" b="1" dirty="0">
              <a:latin typeface="Times New Roman" panose="02020603050405020304" pitchFamily="18" charset="0"/>
              <a:cs typeface="Times New Roman" panose="02020603050405020304" pitchFamily="18" charset="0"/>
            </a:endParaRPr>
          </a:p>
          <a:p>
            <a:pPr marL="298450" indent="-285750">
              <a:lnSpc>
                <a:spcPct val="100000"/>
              </a:lnSpc>
              <a:spcBef>
                <a:spcPts val="545"/>
              </a:spcBef>
              <a:buFont typeface="Arial" panose="020B0604020202020204" pitchFamily="34" charset="0"/>
              <a:buChar char="•"/>
              <a:tabLst>
                <a:tab pos="355600" algn="l"/>
              </a:tabLst>
            </a:pPr>
            <a:r>
              <a:rPr lang="en-IN" b="1" dirty="0" smtClean="0">
                <a:latin typeface="Times New Roman" panose="02020603050405020304" pitchFamily="18" charset="0"/>
                <a:cs typeface="Times New Roman" panose="02020603050405020304" pitchFamily="18" charset="0"/>
              </a:rPr>
              <a:t>  Live </a:t>
            </a:r>
            <a:r>
              <a:rPr lang="en-IN" b="1" dirty="0">
                <a:latin typeface="Times New Roman" panose="02020603050405020304" pitchFamily="18" charset="0"/>
                <a:cs typeface="Times New Roman" panose="02020603050405020304" pitchFamily="18" charset="0"/>
              </a:rPr>
              <a:t>Ride </a:t>
            </a:r>
            <a:r>
              <a:rPr lang="en-IN" b="1" dirty="0" smtClean="0">
                <a:latin typeface="Times New Roman" panose="02020603050405020304" pitchFamily="18" charset="0"/>
                <a:cs typeface="Times New Roman" panose="02020603050405020304" pitchFamily="18" charset="0"/>
              </a:rPr>
              <a:t>Tracking</a:t>
            </a:r>
            <a:endParaRPr lang="en-IN" b="1" dirty="0">
              <a:latin typeface="Times New Roman" panose="02020603050405020304" pitchFamily="18" charset="0"/>
              <a:cs typeface="Times New Roman" panose="02020603050405020304" pitchFamily="18" charset="0"/>
            </a:endParaRPr>
          </a:p>
          <a:p>
            <a:pPr marL="298450" indent="-285750">
              <a:lnSpc>
                <a:spcPct val="100000"/>
              </a:lnSpc>
              <a:spcBef>
                <a:spcPts val="545"/>
              </a:spcBef>
              <a:buFont typeface="Arial" panose="020B0604020202020204" pitchFamily="34" charset="0"/>
              <a:buChar char="•"/>
              <a:tabLst>
                <a:tab pos="355600" algn="l"/>
              </a:tabLst>
            </a:pPr>
            <a:r>
              <a:rPr lang="en-IN" sz="1800" b="1" spc="-25" dirty="0">
                <a:latin typeface="Times New Roman" panose="02020603050405020304" pitchFamily="18" charset="0"/>
                <a:cs typeface="Times New Roman" panose="02020603050405020304" pitchFamily="18" charset="0"/>
              </a:rPr>
              <a:t> </a:t>
            </a:r>
            <a:r>
              <a:rPr lang="en-IN" sz="1800" b="1" spc="-25" dirty="0" smtClean="0">
                <a:latin typeface="Times New Roman" panose="02020603050405020304" pitchFamily="18" charset="0"/>
                <a:cs typeface="Times New Roman" panose="02020603050405020304" pitchFamily="18" charset="0"/>
              </a:rPr>
              <a:t> </a:t>
            </a:r>
            <a:r>
              <a:rPr sz="1800" b="1" spc="-25" dirty="0" smtClean="0">
                <a:latin typeface="Times New Roman"/>
                <a:cs typeface="Times New Roman"/>
              </a:rPr>
              <a:t>User-</a:t>
            </a:r>
            <a:r>
              <a:rPr sz="1800" b="1" dirty="0" smtClean="0">
                <a:latin typeface="Times New Roman"/>
                <a:cs typeface="Times New Roman"/>
              </a:rPr>
              <a:t>Friendly</a:t>
            </a:r>
            <a:r>
              <a:rPr sz="1800" b="1" spc="25" dirty="0" smtClean="0">
                <a:latin typeface="Times New Roman"/>
                <a:cs typeface="Times New Roman"/>
              </a:rPr>
              <a:t> </a:t>
            </a:r>
            <a:r>
              <a:rPr sz="1800" b="1" spc="-10" dirty="0">
                <a:latin typeface="Times New Roman"/>
                <a:cs typeface="Times New Roman"/>
              </a:rPr>
              <a:t>Interface</a:t>
            </a:r>
            <a:endParaRPr sz="1800" dirty="0">
              <a:latin typeface="Times New Roman"/>
              <a:cs typeface="Times New Roman"/>
            </a:endParaRPr>
          </a:p>
          <a:p>
            <a:pPr marL="298450" indent="-285750">
              <a:spcBef>
                <a:spcPts val="470"/>
              </a:spcBef>
              <a:buFont typeface="Arial" panose="020B0604020202020204" pitchFamily="34" charset="0"/>
              <a:buChar char="•"/>
              <a:tabLst>
                <a:tab pos="355600" algn="l"/>
              </a:tabLst>
            </a:pPr>
            <a:r>
              <a:rPr lang="en-IN" b="1" dirty="0" smtClean="0">
                <a:latin typeface="Times New Roman" panose="02020603050405020304" pitchFamily="18" charset="0"/>
                <a:cs typeface="Times New Roman" panose="02020603050405020304" pitchFamily="18" charset="0"/>
              </a:rPr>
              <a:t>  Location-Based </a:t>
            </a:r>
            <a:r>
              <a:rPr lang="en-IN" b="1" dirty="0">
                <a:latin typeface="Times New Roman" panose="02020603050405020304" pitchFamily="18" charset="0"/>
                <a:cs typeface="Times New Roman" panose="02020603050405020304" pitchFamily="18" charset="0"/>
              </a:rPr>
              <a:t>Services</a:t>
            </a:r>
            <a:endParaRPr sz="1800" dirty="0">
              <a:latin typeface="Times New Roman" panose="02020603050405020304" pitchFamily="18" charset="0"/>
              <a:cs typeface="Times New Roman" panose="02020603050405020304" pitchFamily="18" charset="0"/>
            </a:endParaRPr>
          </a:p>
          <a:p>
            <a:pPr marL="298450" indent="-285750">
              <a:lnSpc>
                <a:spcPct val="100000"/>
              </a:lnSpc>
              <a:spcBef>
                <a:spcPts val="390"/>
              </a:spcBef>
              <a:buFont typeface="Arial" panose="020B0604020202020204" pitchFamily="34" charset="0"/>
              <a:buChar char="•"/>
              <a:tabLst>
                <a:tab pos="355600" algn="l"/>
              </a:tabLst>
            </a:pPr>
            <a:endParaRPr sz="1800" dirty="0">
              <a:latin typeface="Times New Roman"/>
              <a:cs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914" rIns="0" bIns="0" rtlCol="0">
            <a:spAutoFit/>
          </a:bodyPr>
          <a:lstStyle/>
          <a:p>
            <a:pPr marL="12700">
              <a:lnSpc>
                <a:spcPct val="100000"/>
              </a:lnSpc>
              <a:spcBef>
                <a:spcPts val="105"/>
              </a:spcBef>
            </a:pPr>
            <a:r>
              <a:rPr sz="3000" dirty="0"/>
              <a:t>Problem</a:t>
            </a:r>
            <a:r>
              <a:rPr sz="3000" spc="-85" dirty="0"/>
              <a:t> </a:t>
            </a:r>
            <a:r>
              <a:rPr sz="3000" dirty="0"/>
              <a:t>Statement</a:t>
            </a:r>
            <a:r>
              <a:rPr sz="3000" spc="-85" dirty="0"/>
              <a:t> </a:t>
            </a:r>
            <a:r>
              <a:rPr sz="3000" dirty="0"/>
              <a:t>&amp;</a:t>
            </a:r>
            <a:r>
              <a:rPr sz="3000" spc="-15" dirty="0"/>
              <a:t> </a:t>
            </a:r>
            <a:r>
              <a:rPr sz="3000" dirty="0"/>
              <a:t>Need</a:t>
            </a:r>
            <a:r>
              <a:rPr sz="3000" spc="-75" dirty="0"/>
              <a:t> </a:t>
            </a:r>
            <a:r>
              <a:rPr sz="3000" spc="-10" dirty="0"/>
              <a:t>Statement</a:t>
            </a:r>
            <a:endParaRPr sz="3000"/>
          </a:p>
        </p:txBody>
      </p:sp>
      <p:sp>
        <p:nvSpPr>
          <p:cNvPr id="3" name="object 3"/>
          <p:cNvSpPr txBox="1"/>
          <p:nvPr/>
        </p:nvSpPr>
        <p:spPr>
          <a:xfrm>
            <a:off x="536575" y="973137"/>
            <a:ext cx="7999730" cy="5151410"/>
          </a:xfrm>
          <a:prstGeom prst="rect">
            <a:avLst/>
          </a:prstGeom>
        </p:spPr>
        <p:txBody>
          <a:bodyPr vert="horz" wrap="square" lIns="0" tIns="62230" rIns="0" bIns="0" rtlCol="0">
            <a:spAutoFit/>
          </a:bodyPr>
          <a:lstStyle/>
          <a:p>
            <a:pPr marL="12700">
              <a:lnSpc>
                <a:spcPct val="100000"/>
              </a:lnSpc>
              <a:spcBef>
                <a:spcPts val="490"/>
              </a:spcBef>
            </a:pPr>
            <a:r>
              <a:rPr sz="1800" b="1" dirty="0">
                <a:latin typeface="Times New Roman"/>
                <a:cs typeface="Times New Roman"/>
              </a:rPr>
              <a:t>Problem</a:t>
            </a:r>
            <a:r>
              <a:rPr sz="1800" b="1" spc="-55" dirty="0">
                <a:latin typeface="Times New Roman"/>
                <a:cs typeface="Times New Roman"/>
              </a:rPr>
              <a:t> </a:t>
            </a:r>
            <a:r>
              <a:rPr sz="1800" b="1" spc="-10" dirty="0">
                <a:latin typeface="Times New Roman"/>
                <a:cs typeface="Times New Roman"/>
              </a:rPr>
              <a:t>Statement:</a:t>
            </a:r>
            <a:endParaRPr sz="1800" dirty="0">
              <a:latin typeface="Times New Roman"/>
              <a:cs typeface="Times New Roman"/>
            </a:endParaRPr>
          </a:p>
          <a:p>
            <a:pPr marL="12700" marR="5080">
              <a:lnSpc>
                <a:spcPct val="100099"/>
              </a:lnSpc>
              <a:spcBef>
                <a:spcPts val="390"/>
              </a:spcBef>
            </a:pPr>
            <a:r>
              <a:rPr lang="en-US" sz="1800" dirty="0" smtClean="0">
                <a:latin typeface="Calibri" panose="020F0502020204030204" pitchFamily="34" charset="0"/>
                <a:ea typeface="Calibri" panose="020F0502020204030204" pitchFamily="34" charset="0"/>
                <a:cs typeface="Calibri" panose="020F0502020204030204" pitchFamily="34" charset="0"/>
              </a:rPr>
              <a:t>Women and girls across the world face daily safety challenges, especially in public spaces and during night-time travel. Incidents of harassment, assault, and lack of immediate help create fear and restrict their freedom of movement. Existing safety measures are often fragmented, unreliable, or slow to respond, leaving many without timely protection in critical situations. There is a strong need for an integrated and easily accessible system that can provide instant assistance and improve personal safety. Such a system can empower users to take quick action and increase their confidence in handling emergency situations.</a:t>
            </a:r>
          </a:p>
          <a:p>
            <a:pPr marL="12700" marR="5080">
              <a:lnSpc>
                <a:spcPct val="100099"/>
              </a:lnSpc>
              <a:spcBef>
                <a:spcPts val="390"/>
              </a:spcBef>
            </a:pPr>
            <a:endParaRPr sz="1800" dirty="0">
              <a:latin typeface="Calibri" panose="020F0502020204030204" pitchFamily="34" charset="0"/>
              <a:ea typeface="Calibri" panose="020F0502020204030204" pitchFamily="34" charset="0"/>
              <a:cs typeface="Calibri" panose="020F0502020204030204" pitchFamily="34" charset="0"/>
            </a:endParaRPr>
          </a:p>
          <a:p>
            <a:pPr marL="12700">
              <a:lnSpc>
                <a:spcPct val="100000"/>
              </a:lnSpc>
            </a:pPr>
            <a:r>
              <a:rPr sz="1800" b="1" dirty="0">
                <a:latin typeface="Times New Roman"/>
                <a:cs typeface="Times New Roman"/>
              </a:rPr>
              <a:t>Need</a:t>
            </a:r>
            <a:r>
              <a:rPr sz="1800" b="1" spc="-10" dirty="0">
                <a:latin typeface="Times New Roman"/>
                <a:cs typeface="Times New Roman"/>
              </a:rPr>
              <a:t> Statement</a:t>
            </a:r>
            <a:r>
              <a:rPr sz="1800" b="1" spc="-10" dirty="0" smtClean="0">
                <a:latin typeface="Times New Roman"/>
                <a:cs typeface="Times New Roman"/>
              </a:rPr>
              <a:t>:</a:t>
            </a:r>
            <a:endParaRPr lang="en-US" sz="1800" b="1" spc="-10" dirty="0" smtClean="0">
              <a:latin typeface="Times New Roman"/>
              <a:cs typeface="Times New Roman"/>
            </a:endParaRPr>
          </a:p>
          <a:p>
            <a:pPr marL="12700">
              <a:lnSpc>
                <a:spcPct val="100000"/>
              </a:lnSpc>
            </a:pPr>
            <a:r>
              <a:rPr lang="en-US" sz="1800" dirty="0" smtClean="0">
                <a:latin typeface="Times New Roman"/>
                <a:cs typeface="Times New Roman"/>
              </a:rPr>
              <a:t>There is an urgent need for a dedicated, technology-driven safety platform that empowers women with instant emergency support, secure travel options, and access to verified safety resources. </a:t>
            </a:r>
            <a:r>
              <a:rPr lang="en-US" sz="1800" dirty="0" err="1" smtClean="0">
                <a:latin typeface="Times New Roman"/>
                <a:cs typeface="Times New Roman"/>
              </a:rPr>
              <a:t>FEMsafe</a:t>
            </a:r>
            <a:r>
              <a:rPr lang="en-US" sz="1800" dirty="0" smtClean="0">
                <a:latin typeface="Times New Roman"/>
                <a:cs typeface="Times New Roman"/>
              </a:rPr>
              <a:t> </a:t>
            </a:r>
            <a:r>
              <a:rPr lang="en-US" sz="1800" dirty="0" smtClean="0">
                <a:latin typeface="Times New Roman"/>
                <a:cs typeface="Times New Roman"/>
              </a:rPr>
              <a:t>bridges this gap by combining real-time alerts, safe mobility services, and community-driven support, ensuring that women can live, work, and travel with confidence. It also helps reduce response time during emergencies and improves overall personal safety. Additionally, it promotes awareness and encourages proactive safety measures among users.</a:t>
            </a:r>
            <a:endParaRPr sz="1800" dirty="0">
              <a:latin typeface="Times New Roman"/>
              <a:cs typeface="Times New Roman"/>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2089785">
              <a:lnSpc>
                <a:spcPct val="100000"/>
              </a:lnSpc>
              <a:spcBef>
                <a:spcPts val="130"/>
              </a:spcBef>
            </a:pPr>
            <a:r>
              <a:rPr spc="-10" dirty="0"/>
              <a:t>Web</a:t>
            </a:r>
            <a:r>
              <a:rPr spc="-175" dirty="0"/>
              <a:t> </a:t>
            </a:r>
            <a:r>
              <a:rPr spc="-10" dirty="0"/>
              <a:t>Design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9200"/>
            <a:ext cx="9144000" cy="51816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97" y="99694"/>
            <a:ext cx="6238875" cy="492443"/>
          </a:xfrm>
        </p:spPr>
        <p:txBody>
          <a:bodyPr/>
          <a:lstStyle/>
          <a:p>
            <a:pPr algn="ctr"/>
            <a:r>
              <a:rPr lang="en-US" dirty="0" smtClean="0"/>
              <a:t>Activity Diagram</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7848"/>
          <a:stretch/>
        </p:blipFill>
        <p:spPr>
          <a:xfrm>
            <a:off x="2438400" y="1143000"/>
            <a:ext cx="3733027" cy="5368636"/>
          </a:xfrm>
          <a:prstGeom prst="rect">
            <a:avLst/>
          </a:prstGeom>
        </p:spPr>
      </p:pic>
    </p:spTree>
    <p:extLst>
      <p:ext uri="{BB962C8B-B14F-4D97-AF65-F5344CB8AC3E}">
        <p14:creationId xmlns:p14="http://schemas.microsoft.com/office/powerpoint/2010/main" val="12902932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97" y="99694"/>
            <a:ext cx="6238875" cy="492443"/>
          </a:xfrm>
        </p:spPr>
        <p:txBody>
          <a:bodyPr/>
          <a:lstStyle/>
          <a:p>
            <a:pPr algn="ctr"/>
            <a:r>
              <a:rPr lang="en-US" dirty="0" smtClean="0"/>
              <a:t>Class Diagram</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3699"/>
          <a:stretch/>
        </p:blipFill>
        <p:spPr>
          <a:xfrm>
            <a:off x="0" y="1524000"/>
            <a:ext cx="9144000" cy="4800600"/>
          </a:xfrm>
          <a:prstGeom prst="rect">
            <a:avLst/>
          </a:prstGeom>
        </p:spPr>
      </p:pic>
    </p:spTree>
    <p:extLst>
      <p:ext uri="{BB962C8B-B14F-4D97-AF65-F5344CB8AC3E}">
        <p14:creationId xmlns:p14="http://schemas.microsoft.com/office/powerpoint/2010/main" val="33264517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97" y="99694"/>
            <a:ext cx="6238875" cy="492443"/>
          </a:xfrm>
        </p:spPr>
        <p:txBody>
          <a:bodyPr/>
          <a:lstStyle/>
          <a:p>
            <a:pPr algn="ctr"/>
            <a:r>
              <a:rPr lang="en-US" dirty="0" smtClean="0"/>
              <a:t>Sequence Diagram</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397" y="1143000"/>
            <a:ext cx="8859204" cy="5327073"/>
          </a:xfrm>
          <a:prstGeom prst="rect">
            <a:avLst/>
          </a:prstGeom>
        </p:spPr>
      </p:pic>
    </p:spTree>
    <p:extLst>
      <p:ext uri="{BB962C8B-B14F-4D97-AF65-F5344CB8AC3E}">
        <p14:creationId xmlns:p14="http://schemas.microsoft.com/office/powerpoint/2010/main" val="10391132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5816" rIns="0" bIns="0" rtlCol="0">
            <a:spAutoFit/>
          </a:bodyPr>
          <a:lstStyle/>
          <a:p>
            <a:pPr marL="1981835">
              <a:lnSpc>
                <a:spcPct val="100000"/>
              </a:lnSpc>
              <a:spcBef>
                <a:spcPts val="100"/>
              </a:spcBef>
            </a:pPr>
            <a:r>
              <a:rPr sz="2400" spc="-20" dirty="0"/>
              <a:t>Technology</a:t>
            </a:r>
            <a:r>
              <a:rPr sz="2400" spc="-85" dirty="0"/>
              <a:t> </a:t>
            </a:r>
            <a:r>
              <a:rPr sz="2400" spc="-10" dirty="0"/>
              <a:t>Stack</a:t>
            </a:r>
            <a:endParaRPr sz="2400"/>
          </a:p>
        </p:txBody>
      </p:sp>
      <p:sp>
        <p:nvSpPr>
          <p:cNvPr id="3" name="object 3"/>
          <p:cNvSpPr txBox="1"/>
          <p:nvPr/>
        </p:nvSpPr>
        <p:spPr>
          <a:xfrm>
            <a:off x="78739" y="821499"/>
            <a:ext cx="8634730" cy="6266395"/>
          </a:xfrm>
          <a:prstGeom prst="rect">
            <a:avLst/>
          </a:prstGeom>
        </p:spPr>
        <p:txBody>
          <a:bodyPr vert="horz" wrap="square" lIns="0" tIns="12700" rIns="0" bIns="0" rtlCol="0">
            <a:spAutoFit/>
          </a:bodyPr>
          <a:lstStyle/>
          <a:p>
            <a:pPr marL="12700" marR="6167120" indent="228600">
              <a:lnSpc>
                <a:spcPct val="121600"/>
              </a:lnSpc>
              <a:spcBef>
                <a:spcPts val="100"/>
              </a:spcBef>
              <a:buAutoNum type="arabicPeriod"/>
              <a:tabLst>
                <a:tab pos="241300" algn="l"/>
              </a:tabLst>
            </a:pPr>
            <a:r>
              <a:rPr lang="en-US" sz="1800" b="1" dirty="0" smtClean="0">
                <a:latin typeface="Times New Roman"/>
                <a:cs typeface="Times New Roman"/>
              </a:rPr>
              <a:t>Frontend</a:t>
            </a:r>
            <a:r>
              <a:rPr lang="en-US" sz="1800" b="1" spc="-90" dirty="0" smtClean="0">
                <a:latin typeface="Times New Roman"/>
                <a:cs typeface="Times New Roman"/>
              </a:rPr>
              <a:t> </a:t>
            </a:r>
            <a:r>
              <a:rPr lang="en-US" sz="1800" b="1" spc="-20" dirty="0" smtClean="0">
                <a:latin typeface="Times New Roman"/>
                <a:cs typeface="Times New Roman"/>
              </a:rPr>
              <a:t>Technologies </a:t>
            </a:r>
            <a:r>
              <a:rPr lang="en-US" sz="1800" b="1" spc="-10" dirty="0" smtClean="0">
                <a:latin typeface="Times New Roman"/>
                <a:cs typeface="Times New Roman"/>
              </a:rPr>
              <a:t>React.js</a:t>
            </a:r>
            <a:endParaRPr lang="en-US" sz="1800" dirty="0" smtClean="0">
              <a:latin typeface="Times New Roman"/>
              <a:cs typeface="Times New Roman"/>
            </a:endParaRPr>
          </a:p>
          <a:p>
            <a:pPr marL="355600" lvl="1" indent="-342900">
              <a:lnSpc>
                <a:spcPct val="100000"/>
              </a:lnSpc>
              <a:spcBef>
                <a:spcPts val="395"/>
              </a:spcBef>
              <a:buFont typeface="Arial"/>
              <a:buChar char="•"/>
              <a:tabLst>
                <a:tab pos="355600" algn="l"/>
              </a:tabLst>
            </a:pPr>
            <a:r>
              <a:rPr lang="en-US" sz="1800" dirty="0" smtClean="0">
                <a:latin typeface="Times New Roman"/>
                <a:cs typeface="Times New Roman"/>
              </a:rPr>
              <a:t>A</a:t>
            </a:r>
            <a:r>
              <a:rPr lang="en-US" sz="1800" spc="-110" dirty="0" smtClean="0">
                <a:latin typeface="Times New Roman"/>
                <a:cs typeface="Times New Roman"/>
              </a:rPr>
              <a:t> </a:t>
            </a:r>
            <a:r>
              <a:rPr lang="en-US" sz="1800" dirty="0" smtClean="0">
                <a:latin typeface="Times New Roman"/>
                <a:cs typeface="Times New Roman"/>
              </a:rPr>
              <a:t>JavaScript</a:t>
            </a:r>
            <a:r>
              <a:rPr lang="en-US" sz="1800" spc="25" dirty="0" smtClean="0">
                <a:latin typeface="Times New Roman"/>
                <a:cs typeface="Times New Roman"/>
              </a:rPr>
              <a:t> </a:t>
            </a:r>
            <a:r>
              <a:rPr lang="en-US" sz="1800" dirty="0" smtClean="0">
                <a:latin typeface="Times New Roman"/>
                <a:cs typeface="Times New Roman"/>
              </a:rPr>
              <a:t>library used for building the</a:t>
            </a:r>
            <a:r>
              <a:rPr lang="en-US" sz="1800" spc="-50" dirty="0" smtClean="0">
                <a:latin typeface="Times New Roman"/>
                <a:cs typeface="Times New Roman"/>
              </a:rPr>
              <a:t> </a:t>
            </a:r>
            <a:r>
              <a:rPr lang="en-US" sz="1800" dirty="0" smtClean="0">
                <a:latin typeface="Times New Roman"/>
                <a:cs typeface="Times New Roman"/>
              </a:rPr>
              <a:t>user</a:t>
            </a:r>
            <a:r>
              <a:rPr lang="en-US" sz="1800" spc="5" dirty="0" smtClean="0">
                <a:latin typeface="Times New Roman"/>
                <a:cs typeface="Times New Roman"/>
              </a:rPr>
              <a:t> </a:t>
            </a:r>
            <a:r>
              <a:rPr lang="en-US" sz="1800" spc="-10" dirty="0" smtClean="0">
                <a:latin typeface="Times New Roman"/>
                <a:cs typeface="Times New Roman"/>
              </a:rPr>
              <a:t>interface.</a:t>
            </a:r>
            <a:endParaRPr lang="en-US" sz="1800" dirty="0" smtClean="0">
              <a:latin typeface="Times New Roman"/>
              <a:cs typeface="Times New Roman"/>
            </a:endParaRPr>
          </a:p>
          <a:p>
            <a:pPr marL="355600" lvl="1" indent="-342900">
              <a:lnSpc>
                <a:spcPct val="100000"/>
              </a:lnSpc>
              <a:spcBef>
                <a:spcPts val="465"/>
              </a:spcBef>
              <a:buFont typeface="Arial"/>
              <a:buChar char="•"/>
              <a:tabLst>
                <a:tab pos="355600" algn="l"/>
              </a:tabLst>
            </a:pPr>
            <a:r>
              <a:rPr lang="en-US" sz="1800" dirty="0" smtClean="0">
                <a:latin typeface="Times New Roman"/>
                <a:cs typeface="Times New Roman"/>
              </a:rPr>
              <a:t>Provides</a:t>
            </a:r>
            <a:r>
              <a:rPr lang="en-US" sz="1800" spc="-40" dirty="0" smtClean="0">
                <a:latin typeface="Times New Roman"/>
                <a:cs typeface="Times New Roman"/>
              </a:rPr>
              <a:t> </a:t>
            </a:r>
            <a:r>
              <a:rPr lang="en-US" sz="1800" dirty="0" smtClean="0">
                <a:latin typeface="Times New Roman"/>
                <a:cs typeface="Times New Roman"/>
              </a:rPr>
              <a:t>a</a:t>
            </a:r>
            <a:r>
              <a:rPr lang="en-US" sz="1800" spc="25" dirty="0" smtClean="0">
                <a:latin typeface="Times New Roman"/>
                <a:cs typeface="Times New Roman"/>
              </a:rPr>
              <a:t> </a:t>
            </a:r>
            <a:r>
              <a:rPr lang="en-US" sz="1800" spc="-10" dirty="0" smtClean="0">
                <a:latin typeface="Times New Roman"/>
                <a:cs typeface="Times New Roman"/>
              </a:rPr>
              <a:t>component-</a:t>
            </a:r>
            <a:r>
              <a:rPr lang="en-US" sz="1800" dirty="0" smtClean="0">
                <a:latin typeface="Times New Roman"/>
                <a:cs typeface="Times New Roman"/>
              </a:rPr>
              <a:t>based architecture</a:t>
            </a:r>
            <a:r>
              <a:rPr lang="en-US" sz="1800" spc="25" dirty="0" smtClean="0">
                <a:latin typeface="Times New Roman"/>
                <a:cs typeface="Times New Roman"/>
              </a:rPr>
              <a:t> </a:t>
            </a:r>
            <a:r>
              <a:rPr lang="en-US" sz="1800" dirty="0" smtClean="0">
                <a:latin typeface="Times New Roman"/>
                <a:cs typeface="Times New Roman"/>
              </a:rPr>
              <a:t>for</a:t>
            </a:r>
            <a:r>
              <a:rPr lang="en-US" sz="1800" spc="5" dirty="0" smtClean="0">
                <a:latin typeface="Times New Roman"/>
                <a:cs typeface="Times New Roman"/>
              </a:rPr>
              <a:t> </a:t>
            </a:r>
            <a:r>
              <a:rPr lang="en-US" sz="1800" dirty="0" smtClean="0">
                <a:latin typeface="Times New Roman"/>
                <a:cs typeface="Times New Roman"/>
              </a:rPr>
              <a:t>reusable</a:t>
            </a:r>
            <a:r>
              <a:rPr lang="en-US" sz="1800" spc="25" dirty="0" smtClean="0">
                <a:latin typeface="Times New Roman"/>
                <a:cs typeface="Times New Roman"/>
              </a:rPr>
              <a:t> </a:t>
            </a:r>
            <a:r>
              <a:rPr lang="en-US" sz="1800" dirty="0" smtClean="0">
                <a:latin typeface="Times New Roman"/>
                <a:cs typeface="Times New Roman"/>
              </a:rPr>
              <a:t>UI </a:t>
            </a:r>
            <a:r>
              <a:rPr lang="en-US" sz="1800" spc="-10" dirty="0" smtClean="0">
                <a:latin typeface="Times New Roman"/>
                <a:cs typeface="Times New Roman"/>
              </a:rPr>
              <a:t>elements.</a:t>
            </a:r>
            <a:endParaRPr lang="en-US" sz="1800" dirty="0" smtClean="0">
              <a:latin typeface="Times New Roman"/>
              <a:cs typeface="Times New Roman"/>
            </a:endParaRPr>
          </a:p>
          <a:p>
            <a:pPr marL="355600" lvl="1" indent="-342900">
              <a:lnSpc>
                <a:spcPct val="100000"/>
              </a:lnSpc>
              <a:spcBef>
                <a:spcPts val="395"/>
              </a:spcBef>
              <a:buFont typeface="Arial"/>
              <a:buChar char="•"/>
              <a:tabLst>
                <a:tab pos="355600" algn="l"/>
              </a:tabLst>
            </a:pPr>
            <a:r>
              <a:rPr lang="en-US" sz="1800" dirty="0" smtClean="0">
                <a:latin typeface="Times New Roman"/>
                <a:cs typeface="Times New Roman"/>
              </a:rPr>
              <a:t>Ensures</a:t>
            </a:r>
            <a:r>
              <a:rPr lang="en-US" sz="1800" spc="-30" dirty="0" smtClean="0">
                <a:latin typeface="Times New Roman"/>
                <a:cs typeface="Times New Roman"/>
              </a:rPr>
              <a:t> </a:t>
            </a:r>
            <a:r>
              <a:rPr lang="en-US" sz="1800" dirty="0" smtClean="0">
                <a:latin typeface="Times New Roman"/>
                <a:cs typeface="Times New Roman"/>
              </a:rPr>
              <a:t>fast</a:t>
            </a:r>
            <a:r>
              <a:rPr lang="en-US" sz="1800" spc="20" dirty="0" smtClean="0">
                <a:latin typeface="Times New Roman"/>
                <a:cs typeface="Times New Roman"/>
              </a:rPr>
              <a:t> </a:t>
            </a:r>
            <a:r>
              <a:rPr lang="en-US" sz="1800" dirty="0" smtClean="0">
                <a:latin typeface="Times New Roman"/>
                <a:cs typeface="Times New Roman"/>
              </a:rPr>
              <a:t>rendering using</a:t>
            </a:r>
            <a:r>
              <a:rPr lang="en-US" sz="1800" spc="-5" dirty="0" smtClean="0">
                <a:latin typeface="Times New Roman"/>
                <a:cs typeface="Times New Roman"/>
              </a:rPr>
              <a:t> </a:t>
            </a:r>
            <a:r>
              <a:rPr lang="en-US" sz="1800" dirty="0" smtClean="0">
                <a:latin typeface="Times New Roman"/>
                <a:cs typeface="Times New Roman"/>
              </a:rPr>
              <a:t>the</a:t>
            </a:r>
            <a:r>
              <a:rPr lang="en-US" sz="1800" spc="20" dirty="0" smtClean="0">
                <a:latin typeface="Times New Roman"/>
                <a:cs typeface="Times New Roman"/>
              </a:rPr>
              <a:t> </a:t>
            </a:r>
            <a:r>
              <a:rPr lang="en-US" sz="1800" dirty="0" smtClean="0">
                <a:latin typeface="Times New Roman"/>
                <a:cs typeface="Times New Roman"/>
              </a:rPr>
              <a:t>virtual</a:t>
            </a:r>
            <a:r>
              <a:rPr lang="en-US" sz="1800" spc="25" dirty="0" smtClean="0">
                <a:latin typeface="Times New Roman"/>
                <a:cs typeface="Times New Roman"/>
              </a:rPr>
              <a:t> </a:t>
            </a:r>
            <a:r>
              <a:rPr lang="en-US" sz="1800" spc="-20" dirty="0" smtClean="0">
                <a:latin typeface="Times New Roman"/>
                <a:cs typeface="Times New Roman"/>
              </a:rPr>
              <a:t>DOM.</a:t>
            </a:r>
            <a:endParaRPr lang="en-US" sz="1800" dirty="0" smtClean="0">
              <a:latin typeface="Times New Roman"/>
              <a:cs typeface="Times New Roman"/>
            </a:endParaRPr>
          </a:p>
          <a:p>
            <a:pPr marL="355600" lvl="1" indent="-342900">
              <a:lnSpc>
                <a:spcPct val="100000"/>
              </a:lnSpc>
              <a:spcBef>
                <a:spcPts val="470"/>
              </a:spcBef>
              <a:buFont typeface="Arial"/>
              <a:buChar char="•"/>
              <a:tabLst>
                <a:tab pos="355600" algn="l"/>
              </a:tabLst>
            </a:pPr>
            <a:r>
              <a:rPr lang="en-US" sz="1800" dirty="0" smtClean="0">
                <a:latin typeface="Times New Roman"/>
                <a:cs typeface="Times New Roman"/>
              </a:rPr>
              <a:t>Manages</a:t>
            </a:r>
            <a:r>
              <a:rPr lang="en-US" sz="1800" spc="15" dirty="0" smtClean="0">
                <a:latin typeface="Times New Roman"/>
                <a:cs typeface="Times New Roman"/>
              </a:rPr>
              <a:t> </a:t>
            </a:r>
            <a:r>
              <a:rPr lang="en-US" sz="1800" dirty="0" smtClean="0">
                <a:latin typeface="Times New Roman"/>
                <a:cs typeface="Times New Roman"/>
              </a:rPr>
              <a:t>state</a:t>
            </a:r>
            <a:r>
              <a:rPr lang="en-US" sz="1800" spc="5" dirty="0" smtClean="0">
                <a:latin typeface="Times New Roman"/>
                <a:cs typeface="Times New Roman"/>
              </a:rPr>
              <a:t> </a:t>
            </a:r>
            <a:r>
              <a:rPr lang="en-US" sz="1800" dirty="0" smtClean="0">
                <a:latin typeface="Times New Roman"/>
                <a:cs typeface="Times New Roman"/>
              </a:rPr>
              <a:t>efficiently</a:t>
            </a:r>
            <a:r>
              <a:rPr lang="en-US" sz="1800" spc="-15" dirty="0" smtClean="0">
                <a:latin typeface="Times New Roman"/>
                <a:cs typeface="Times New Roman"/>
              </a:rPr>
              <a:t> </a:t>
            </a:r>
            <a:r>
              <a:rPr lang="en-US" sz="1800" dirty="0" smtClean="0">
                <a:latin typeface="Times New Roman"/>
                <a:cs typeface="Times New Roman"/>
              </a:rPr>
              <a:t>with</a:t>
            </a:r>
            <a:r>
              <a:rPr lang="en-US" sz="1800" spc="-20" dirty="0" smtClean="0">
                <a:latin typeface="Times New Roman"/>
                <a:cs typeface="Times New Roman"/>
              </a:rPr>
              <a:t> </a:t>
            </a:r>
            <a:r>
              <a:rPr lang="en-US" sz="1800" dirty="0" smtClean="0">
                <a:latin typeface="Times New Roman"/>
                <a:cs typeface="Times New Roman"/>
              </a:rPr>
              <a:t>React</a:t>
            </a:r>
            <a:r>
              <a:rPr lang="en-US" sz="1800" spc="-65" dirty="0" smtClean="0">
                <a:latin typeface="Times New Roman"/>
                <a:cs typeface="Times New Roman"/>
              </a:rPr>
              <a:t> </a:t>
            </a:r>
            <a:r>
              <a:rPr lang="en-US" sz="1800" dirty="0" smtClean="0">
                <a:latin typeface="Times New Roman"/>
                <a:cs typeface="Times New Roman"/>
              </a:rPr>
              <a:t>Hooks</a:t>
            </a:r>
            <a:r>
              <a:rPr lang="en-US" sz="1800" spc="-35" dirty="0" smtClean="0">
                <a:latin typeface="Times New Roman"/>
                <a:cs typeface="Times New Roman"/>
              </a:rPr>
              <a:t> </a:t>
            </a:r>
            <a:r>
              <a:rPr lang="en-US" sz="1800" dirty="0" smtClean="0">
                <a:latin typeface="Times New Roman"/>
                <a:cs typeface="Times New Roman"/>
              </a:rPr>
              <a:t>(</a:t>
            </a:r>
            <a:r>
              <a:rPr lang="en-US" sz="1800" dirty="0" err="1" smtClean="0">
                <a:latin typeface="Times New Roman"/>
                <a:cs typeface="Times New Roman"/>
              </a:rPr>
              <a:t>useState</a:t>
            </a:r>
            <a:r>
              <a:rPr lang="en-US" sz="1800" dirty="0" smtClean="0">
                <a:latin typeface="Times New Roman"/>
                <a:cs typeface="Times New Roman"/>
              </a:rPr>
              <a:t>,</a:t>
            </a:r>
            <a:r>
              <a:rPr lang="en-US" sz="1800" spc="-15" dirty="0" smtClean="0">
                <a:latin typeface="Times New Roman"/>
                <a:cs typeface="Times New Roman"/>
              </a:rPr>
              <a:t> </a:t>
            </a:r>
            <a:r>
              <a:rPr lang="en-US" sz="1800" spc="-10" dirty="0" err="1" smtClean="0">
                <a:latin typeface="Times New Roman"/>
                <a:cs typeface="Times New Roman"/>
              </a:rPr>
              <a:t>useEffect</a:t>
            </a:r>
            <a:r>
              <a:rPr lang="en-US" sz="1800" spc="-10" dirty="0" smtClean="0">
                <a:latin typeface="Times New Roman"/>
                <a:cs typeface="Times New Roman"/>
              </a:rPr>
              <a:t>).</a:t>
            </a:r>
            <a:endParaRPr lang="en-US" sz="1800" dirty="0" smtClean="0">
              <a:latin typeface="Times New Roman"/>
              <a:cs typeface="Times New Roman"/>
            </a:endParaRPr>
          </a:p>
          <a:p>
            <a:pPr marL="12700">
              <a:lnSpc>
                <a:spcPct val="100000"/>
              </a:lnSpc>
              <a:spcBef>
                <a:spcPts val="470"/>
              </a:spcBef>
            </a:pPr>
            <a:r>
              <a:rPr lang="en-US" sz="1800" b="1" spc="-10" dirty="0" smtClean="0">
                <a:latin typeface="Times New Roman"/>
                <a:cs typeface="Times New Roman"/>
              </a:rPr>
              <a:t>Tailwind</a:t>
            </a:r>
            <a:r>
              <a:rPr lang="en-US" sz="1800" b="1" spc="-80" dirty="0" smtClean="0">
                <a:latin typeface="Times New Roman"/>
                <a:cs typeface="Times New Roman"/>
              </a:rPr>
              <a:t> </a:t>
            </a:r>
            <a:r>
              <a:rPr lang="en-US" sz="1800" b="1" spc="-25" dirty="0" smtClean="0">
                <a:latin typeface="Times New Roman"/>
                <a:cs typeface="Times New Roman"/>
              </a:rPr>
              <a:t>CSS</a:t>
            </a:r>
            <a:endParaRPr lang="en-US" sz="1800" dirty="0" smtClean="0">
              <a:latin typeface="Times New Roman"/>
              <a:cs typeface="Times New Roman"/>
            </a:endParaRPr>
          </a:p>
          <a:p>
            <a:pPr marL="355600" lvl="1" indent="-342900">
              <a:lnSpc>
                <a:spcPct val="100000"/>
              </a:lnSpc>
              <a:spcBef>
                <a:spcPts val="390"/>
              </a:spcBef>
              <a:buFont typeface="Arial"/>
              <a:buChar char="•"/>
              <a:tabLst>
                <a:tab pos="355600" algn="l"/>
              </a:tabLst>
            </a:pPr>
            <a:r>
              <a:rPr lang="en-US" sz="1800" dirty="0" smtClean="0">
                <a:latin typeface="Times New Roman"/>
                <a:cs typeface="Times New Roman"/>
              </a:rPr>
              <a:t>A</a:t>
            </a:r>
            <a:r>
              <a:rPr lang="en-US" sz="1800" spc="-110" dirty="0" smtClean="0">
                <a:latin typeface="Times New Roman"/>
                <a:cs typeface="Times New Roman"/>
              </a:rPr>
              <a:t> </a:t>
            </a:r>
            <a:r>
              <a:rPr lang="en-US" sz="1800" spc="-10" dirty="0" smtClean="0">
                <a:latin typeface="Times New Roman"/>
                <a:cs typeface="Times New Roman"/>
              </a:rPr>
              <a:t>utility-</a:t>
            </a:r>
            <a:r>
              <a:rPr lang="en-US" sz="1800" dirty="0" smtClean="0">
                <a:latin typeface="Times New Roman"/>
                <a:cs typeface="Times New Roman"/>
              </a:rPr>
              <a:t>first</a:t>
            </a:r>
            <a:r>
              <a:rPr lang="en-US" sz="1800" spc="30" dirty="0" smtClean="0">
                <a:latin typeface="Times New Roman"/>
                <a:cs typeface="Times New Roman"/>
              </a:rPr>
              <a:t> </a:t>
            </a:r>
            <a:r>
              <a:rPr lang="en-US" sz="1800" dirty="0" smtClean="0">
                <a:latin typeface="Times New Roman"/>
                <a:cs typeface="Times New Roman"/>
              </a:rPr>
              <a:t>CSS</a:t>
            </a:r>
            <a:r>
              <a:rPr lang="en-US" sz="1800" spc="-20" dirty="0" smtClean="0">
                <a:latin typeface="Times New Roman"/>
                <a:cs typeface="Times New Roman"/>
              </a:rPr>
              <a:t> </a:t>
            </a:r>
            <a:r>
              <a:rPr lang="en-US" sz="1800" dirty="0" smtClean="0">
                <a:latin typeface="Times New Roman"/>
                <a:cs typeface="Times New Roman"/>
              </a:rPr>
              <a:t>framework</a:t>
            </a:r>
            <a:r>
              <a:rPr lang="en-US" sz="1800" spc="10" dirty="0" smtClean="0">
                <a:latin typeface="Times New Roman"/>
                <a:cs typeface="Times New Roman"/>
              </a:rPr>
              <a:t> </a:t>
            </a:r>
            <a:r>
              <a:rPr lang="en-US" sz="1800" dirty="0" smtClean="0">
                <a:latin typeface="Times New Roman"/>
                <a:cs typeface="Times New Roman"/>
              </a:rPr>
              <a:t>for</a:t>
            </a:r>
            <a:r>
              <a:rPr lang="en-US" sz="1800" spc="5" dirty="0" smtClean="0">
                <a:latin typeface="Times New Roman"/>
                <a:cs typeface="Times New Roman"/>
              </a:rPr>
              <a:t> </a:t>
            </a:r>
            <a:r>
              <a:rPr lang="en-US" sz="1800" dirty="0" smtClean="0">
                <a:latin typeface="Times New Roman"/>
                <a:cs typeface="Times New Roman"/>
              </a:rPr>
              <a:t>rapid</a:t>
            </a:r>
            <a:r>
              <a:rPr lang="en-US" sz="1800" spc="5" dirty="0" smtClean="0">
                <a:latin typeface="Times New Roman"/>
                <a:cs typeface="Times New Roman"/>
              </a:rPr>
              <a:t> </a:t>
            </a:r>
            <a:r>
              <a:rPr lang="en-US" sz="1800" dirty="0" smtClean="0">
                <a:latin typeface="Times New Roman"/>
                <a:cs typeface="Times New Roman"/>
              </a:rPr>
              <a:t>UI</a:t>
            </a:r>
            <a:r>
              <a:rPr lang="en-US" sz="1800" spc="5" dirty="0" smtClean="0">
                <a:latin typeface="Times New Roman"/>
                <a:cs typeface="Times New Roman"/>
              </a:rPr>
              <a:t> </a:t>
            </a:r>
            <a:r>
              <a:rPr lang="en-US" sz="1800" spc="-10" dirty="0" smtClean="0">
                <a:latin typeface="Times New Roman"/>
                <a:cs typeface="Times New Roman"/>
              </a:rPr>
              <a:t>development.</a:t>
            </a:r>
            <a:endParaRPr lang="en-US" sz="1800" dirty="0" smtClean="0">
              <a:latin typeface="Times New Roman"/>
              <a:cs typeface="Times New Roman"/>
            </a:endParaRPr>
          </a:p>
          <a:p>
            <a:pPr marL="355600" lvl="1" indent="-342900">
              <a:lnSpc>
                <a:spcPct val="100000"/>
              </a:lnSpc>
              <a:spcBef>
                <a:spcPts val="470"/>
              </a:spcBef>
              <a:buFont typeface="Arial"/>
              <a:buChar char="•"/>
              <a:tabLst>
                <a:tab pos="355600" algn="l"/>
              </a:tabLst>
            </a:pPr>
            <a:r>
              <a:rPr lang="en-US" sz="1800" dirty="0" smtClean="0">
                <a:latin typeface="Times New Roman"/>
                <a:cs typeface="Times New Roman"/>
              </a:rPr>
              <a:t>Offers</a:t>
            </a:r>
            <a:r>
              <a:rPr lang="en-US" sz="1800" spc="-50" dirty="0" smtClean="0">
                <a:latin typeface="Times New Roman"/>
                <a:cs typeface="Times New Roman"/>
              </a:rPr>
              <a:t> </a:t>
            </a:r>
            <a:r>
              <a:rPr lang="en-US" sz="1800" dirty="0" smtClean="0">
                <a:latin typeface="Times New Roman"/>
                <a:cs typeface="Times New Roman"/>
              </a:rPr>
              <a:t>a</a:t>
            </a:r>
            <a:r>
              <a:rPr lang="en-US" sz="1800" spc="10" dirty="0" smtClean="0">
                <a:latin typeface="Times New Roman"/>
                <a:cs typeface="Times New Roman"/>
              </a:rPr>
              <a:t> </a:t>
            </a:r>
            <a:r>
              <a:rPr lang="en-US" sz="1800" dirty="0" smtClean="0">
                <a:latin typeface="Times New Roman"/>
                <a:cs typeface="Times New Roman"/>
              </a:rPr>
              <a:t>highly</a:t>
            </a:r>
            <a:r>
              <a:rPr lang="en-US" sz="1800" spc="-10" dirty="0" smtClean="0">
                <a:latin typeface="Times New Roman"/>
                <a:cs typeface="Times New Roman"/>
              </a:rPr>
              <a:t> </a:t>
            </a:r>
            <a:r>
              <a:rPr lang="en-US" sz="1800" dirty="0" smtClean="0">
                <a:latin typeface="Times New Roman"/>
                <a:cs typeface="Times New Roman"/>
              </a:rPr>
              <a:t>customizable</a:t>
            </a:r>
            <a:r>
              <a:rPr lang="en-US" sz="1800" spc="10" dirty="0" smtClean="0">
                <a:latin typeface="Times New Roman"/>
                <a:cs typeface="Times New Roman"/>
              </a:rPr>
              <a:t> </a:t>
            </a:r>
            <a:r>
              <a:rPr lang="en-US" sz="1800" dirty="0" smtClean="0">
                <a:latin typeface="Times New Roman"/>
                <a:cs typeface="Times New Roman"/>
              </a:rPr>
              <a:t>and</a:t>
            </a:r>
            <a:r>
              <a:rPr lang="en-US" sz="1800" spc="-10" dirty="0" smtClean="0">
                <a:latin typeface="Times New Roman"/>
                <a:cs typeface="Times New Roman"/>
              </a:rPr>
              <a:t> </a:t>
            </a:r>
            <a:r>
              <a:rPr lang="en-US" sz="1800" dirty="0" smtClean="0">
                <a:latin typeface="Times New Roman"/>
                <a:cs typeface="Times New Roman"/>
              </a:rPr>
              <a:t>responsive</a:t>
            </a:r>
            <a:r>
              <a:rPr lang="en-US" sz="1800" spc="10" dirty="0" smtClean="0">
                <a:latin typeface="Times New Roman"/>
                <a:cs typeface="Times New Roman"/>
              </a:rPr>
              <a:t> </a:t>
            </a:r>
            <a:r>
              <a:rPr lang="en-US" sz="1800" dirty="0" smtClean="0">
                <a:latin typeface="Times New Roman"/>
                <a:cs typeface="Times New Roman"/>
              </a:rPr>
              <a:t>design</a:t>
            </a:r>
            <a:r>
              <a:rPr lang="en-US" sz="1800" spc="-15" dirty="0" smtClean="0">
                <a:latin typeface="Times New Roman"/>
                <a:cs typeface="Times New Roman"/>
              </a:rPr>
              <a:t> </a:t>
            </a:r>
            <a:r>
              <a:rPr lang="en-US" sz="1800" dirty="0" smtClean="0">
                <a:latin typeface="Times New Roman"/>
                <a:cs typeface="Times New Roman"/>
              </a:rPr>
              <a:t>without</a:t>
            </a:r>
            <a:r>
              <a:rPr lang="en-US" sz="1800" spc="15" dirty="0" smtClean="0">
                <a:latin typeface="Times New Roman"/>
                <a:cs typeface="Times New Roman"/>
              </a:rPr>
              <a:t> </a:t>
            </a:r>
            <a:r>
              <a:rPr lang="en-US" sz="1800" dirty="0" smtClean="0">
                <a:latin typeface="Times New Roman"/>
                <a:cs typeface="Times New Roman"/>
              </a:rPr>
              <a:t>writing</a:t>
            </a:r>
            <a:r>
              <a:rPr lang="en-US" sz="1800" spc="-15" dirty="0" smtClean="0">
                <a:latin typeface="Times New Roman"/>
                <a:cs typeface="Times New Roman"/>
              </a:rPr>
              <a:t> </a:t>
            </a:r>
            <a:r>
              <a:rPr lang="en-US" sz="1800" dirty="0" smtClean="0">
                <a:latin typeface="Times New Roman"/>
                <a:cs typeface="Times New Roman"/>
              </a:rPr>
              <a:t>extensive</a:t>
            </a:r>
            <a:r>
              <a:rPr lang="en-US" sz="1800" spc="15" dirty="0" smtClean="0">
                <a:latin typeface="Times New Roman"/>
                <a:cs typeface="Times New Roman"/>
              </a:rPr>
              <a:t> </a:t>
            </a:r>
            <a:r>
              <a:rPr lang="en-US" sz="1800" spc="-20" dirty="0" smtClean="0">
                <a:latin typeface="Times New Roman"/>
                <a:cs typeface="Times New Roman"/>
              </a:rPr>
              <a:t>CSS.</a:t>
            </a:r>
            <a:endParaRPr lang="en-US" sz="1800" dirty="0" smtClean="0">
              <a:latin typeface="Times New Roman"/>
              <a:cs typeface="Times New Roman"/>
            </a:endParaRPr>
          </a:p>
          <a:p>
            <a:pPr marL="355600" lvl="1" indent="-342900">
              <a:lnSpc>
                <a:spcPct val="100000"/>
              </a:lnSpc>
              <a:spcBef>
                <a:spcPts val="395"/>
              </a:spcBef>
              <a:buFont typeface="Arial"/>
              <a:buChar char="•"/>
              <a:tabLst>
                <a:tab pos="355600" algn="l"/>
              </a:tabLst>
            </a:pPr>
            <a:r>
              <a:rPr lang="en-US" sz="1800" dirty="0" smtClean="0">
                <a:latin typeface="Times New Roman"/>
                <a:cs typeface="Times New Roman"/>
              </a:rPr>
              <a:t>Ensures</a:t>
            </a:r>
            <a:r>
              <a:rPr lang="en-US" sz="1800" spc="-35" dirty="0" smtClean="0">
                <a:latin typeface="Times New Roman"/>
                <a:cs typeface="Times New Roman"/>
              </a:rPr>
              <a:t> </a:t>
            </a:r>
            <a:r>
              <a:rPr lang="en-US" sz="1800" dirty="0" smtClean="0">
                <a:latin typeface="Times New Roman"/>
                <a:cs typeface="Times New Roman"/>
              </a:rPr>
              <a:t>a</a:t>
            </a:r>
            <a:r>
              <a:rPr lang="en-US" sz="1800" spc="25" dirty="0" smtClean="0">
                <a:latin typeface="Times New Roman"/>
                <a:cs typeface="Times New Roman"/>
              </a:rPr>
              <a:t> </a:t>
            </a:r>
            <a:r>
              <a:rPr lang="en-US" sz="1800" dirty="0" smtClean="0">
                <a:latin typeface="Times New Roman"/>
                <a:cs typeface="Times New Roman"/>
              </a:rPr>
              <a:t>modern and visually appealing user </a:t>
            </a:r>
            <a:r>
              <a:rPr lang="en-US" sz="1800" spc="-10" dirty="0" smtClean="0">
                <a:latin typeface="Times New Roman"/>
                <a:cs typeface="Times New Roman"/>
              </a:rPr>
              <a:t>interface.</a:t>
            </a:r>
            <a:endParaRPr lang="en-US" sz="1800" dirty="0" smtClean="0">
              <a:latin typeface="Times New Roman"/>
              <a:cs typeface="Times New Roman"/>
            </a:endParaRPr>
          </a:p>
          <a:p>
            <a:pPr>
              <a:lnSpc>
                <a:spcPct val="100000"/>
              </a:lnSpc>
              <a:spcBef>
                <a:spcPts val="480"/>
              </a:spcBef>
            </a:pPr>
            <a:endParaRPr lang="en-US" sz="1800" dirty="0" smtClean="0">
              <a:latin typeface="Times New Roman"/>
              <a:cs typeface="Times New Roman"/>
            </a:endParaRPr>
          </a:p>
          <a:p>
            <a:pPr marL="12700" marR="6223635" indent="228600">
              <a:lnSpc>
                <a:spcPct val="121700"/>
              </a:lnSpc>
              <a:spcBef>
                <a:spcPts val="5"/>
              </a:spcBef>
              <a:buAutoNum type="arabicPeriod" startAt="2"/>
              <a:tabLst>
                <a:tab pos="241300" algn="l"/>
              </a:tabLst>
            </a:pPr>
            <a:r>
              <a:rPr lang="en-US" sz="1800" b="1" dirty="0" smtClean="0">
                <a:latin typeface="Times New Roman"/>
                <a:cs typeface="Times New Roman"/>
              </a:rPr>
              <a:t>Backend</a:t>
            </a:r>
            <a:r>
              <a:rPr lang="en-US" sz="1800" b="1" spc="-30" dirty="0" smtClean="0">
                <a:latin typeface="Times New Roman"/>
                <a:cs typeface="Times New Roman"/>
              </a:rPr>
              <a:t> </a:t>
            </a:r>
            <a:r>
              <a:rPr lang="en-US" sz="1800" b="1" spc="-20" dirty="0" smtClean="0">
                <a:latin typeface="Times New Roman"/>
                <a:cs typeface="Times New Roman"/>
              </a:rPr>
              <a:t>Technologies </a:t>
            </a:r>
            <a:r>
              <a:rPr lang="en-US" sz="1800" b="1" spc="-10" dirty="0" smtClean="0">
                <a:latin typeface="Times New Roman"/>
                <a:cs typeface="Times New Roman"/>
              </a:rPr>
              <a:t>Node.js</a:t>
            </a:r>
            <a:endParaRPr lang="en-US" sz="1800" dirty="0" smtClean="0">
              <a:latin typeface="Times New Roman"/>
              <a:cs typeface="Times New Roman"/>
            </a:endParaRPr>
          </a:p>
          <a:p>
            <a:pPr marL="355600" lvl="1" indent="-342900">
              <a:lnSpc>
                <a:spcPct val="100000"/>
              </a:lnSpc>
              <a:spcBef>
                <a:spcPts val="390"/>
              </a:spcBef>
              <a:buFont typeface="Arial"/>
              <a:buChar char="•"/>
              <a:tabLst>
                <a:tab pos="355600" algn="l"/>
              </a:tabLst>
            </a:pPr>
            <a:r>
              <a:rPr lang="en-US" sz="1800" dirty="0" smtClean="0">
                <a:latin typeface="Times New Roman"/>
                <a:cs typeface="Times New Roman"/>
              </a:rPr>
              <a:t>A</a:t>
            </a:r>
            <a:r>
              <a:rPr lang="en-US" sz="1800" spc="-120" dirty="0" smtClean="0">
                <a:latin typeface="Times New Roman"/>
                <a:cs typeface="Times New Roman"/>
              </a:rPr>
              <a:t> </a:t>
            </a:r>
            <a:r>
              <a:rPr lang="en-US" sz="1800" dirty="0" smtClean="0">
                <a:latin typeface="Times New Roman"/>
                <a:cs typeface="Times New Roman"/>
              </a:rPr>
              <a:t>runtime</a:t>
            </a:r>
            <a:r>
              <a:rPr lang="en-US" sz="1800" spc="20" dirty="0" smtClean="0">
                <a:latin typeface="Times New Roman"/>
                <a:cs typeface="Times New Roman"/>
              </a:rPr>
              <a:t> </a:t>
            </a:r>
            <a:r>
              <a:rPr lang="en-US" sz="1800" dirty="0" smtClean="0">
                <a:latin typeface="Times New Roman"/>
                <a:cs typeface="Times New Roman"/>
              </a:rPr>
              <a:t>environment</a:t>
            </a:r>
            <a:r>
              <a:rPr lang="en-US" sz="1800" spc="20" dirty="0" smtClean="0">
                <a:latin typeface="Times New Roman"/>
                <a:cs typeface="Times New Roman"/>
              </a:rPr>
              <a:t> </a:t>
            </a:r>
            <a:r>
              <a:rPr lang="en-US" sz="1800" dirty="0" smtClean="0">
                <a:latin typeface="Times New Roman"/>
                <a:cs typeface="Times New Roman"/>
              </a:rPr>
              <a:t>that</a:t>
            </a:r>
            <a:r>
              <a:rPr lang="en-US" sz="1800" spc="15" dirty="0" smtClean="0">
                <a:latin typeface="Times New Roman"/>
                <a:cs typeface="Times New Roman"/>
              </a:rPr>
              <a:t> </a:t>
            </a:r>
            <a:r>
              <a:rPr lang="en-US" sz="1800" dirty="0" smtClean="0">
                <a:latin typeface="Times New Roman"/>
                <a:cs typeface="Times New Roman"/>
              </a:rPr>
              <a:t>enables</a:t>
            </a:r>
            <a:r>
              <a:rPr lang="en-US" sz="1800" spc="-30" dirty="0" smtClean="0">
                <a:latin typeface="Times New Roman"/>
                <a:cs typeface="Times New Roman"/>
              </a:rPr>
              <a:t> </a:t>
            </a:r>
            <a:r>
              <a:rPr lang="en-US" sz="1800" spc="-20" dirty="0" smtClean="0">
                <a:latin typeface="Times New Roman"/>
                <a:cs typeface="Times New Roman"/>
              </a:rPr>
              <a:t>server-</a:t>
            </a:r>
            <a:r>
              <a:rPr lang="en-US" sz="1800" dirty="0" smtClean="0">
                <a:latin typeface="Times New Roman"/>
                <a:cs typeface="Times New Roman"/>
              </a:rPr>
              <a:t>side</a:t>
            </a:r>
            <a:r>
              <a:rPr lang="en-US" sz="1800" spc="10" dirty="0" smtClean="0">
                <a:latin typeface="Times New Roman"/>
                <a:cs typeface="Times New Roman"/>
              </a:rPr>
              <a:t> </a:t>
            </a:r>
            <a:r>
              <a:rPr lang="en-US" sz="1800" dirty="0" smtClean="0">
                <a:latin typeface="Times New Roman"/>
                <a:cs typeface="Times New Roman"/>
              </a:rPr>
              <a:t>execution</a:t>
            </a:r>
            <a:r>
              <a:rPr lang="en-US" sz="1800" spc="-5" dirty="0" smtClean="0">
                <a:latin typeface="Times New Roman"/>
                <a:cs typeface="Times New Roman"/>
              </a:rPr>
              <a:t> </a:t>
            </a:r>
            <a:r>
              <a:rPr lang="en-US" sz="1800" dirty="0" smtClean="0">
                <a:latin typeface="Times New Roman"/>
                <a:cs typeface="Times New Roman"/>
              </a:rPr>
              <a:t>of</a:t>
            </a:r>
            <a:r>
              <a:rPr lang="en-US" sz="1800" spc="-5" dirty="0" smtClean="0">
                <a:latin typeface="Times New Roman"/>
                <a:cs typeface="Times New Roman"/>
              </a:rPr>
              <a:t> </a:t>
            </a:r>
            <a:r>
              <a:rPr lang="en-US" sz="1800" spc="-10" dirty="0" smtClean="0">
                <a:latin typeface="Times New Roman"/>
                <a:cs typeface="Times New Roman"/>
              </a:rPr>
              <a:t>JavaScript.</a:t>
            </a:r>
            <a:endParaRPr lang="en-US" sz="1800" dirty="0" smtClean="0">
              <a:latin typeface="Times New Roman"/>
              <a:cs typeface="Times New Roman"/>
            </a:endParaRPr>
          </a:p>
          <a:p>
            <a:pPr marL="355600" marR="156845" lvl="1" indent="-343535">
              <a:lnSpc>
                <a:spcPct val="100800"/>
              </a:lnSpc>
              <a:spcBef>
                <a:spcPts val="455"/>
              </a:spcBef>
              <a:buFont typeface="Arial"/>
              <a:buChar char="•"/>
              <a:tabLst>
                <a:tab pos="355600" algn="l"/>
              </a:tabLst>
            </a:pPr>
            <a:r>
              <a:rPr lang="en-US" sz="1800" dirty="0" smtClean="0">
                <a:latin typeface="Times New Roman"/>
                <a:cs typeface="Times New Roman"/>
              </a:rPr>
              <a:t>Handles</a:t>
            </a:r>
            <a:r>
              <a:rPr lang="en-US" sz="1800" spc="20" dirty="0" smtClean="0">
                <a:latin typeface="Times New Roman"/>
                <a:cs typeface="Times New Roman"/>
              </a:rPr>
              <a:t> </a:t>
            </a:r>
            <a:r>
              <a:rPr lang="en-US" sz="1800" dirty="0" smtClean="0">
                <a:latin typeface="Times New Roman"/>
                <a:cs typeface="Times New Roman"/>
              </a:rPr>
              <a:t>multiple</a:t>
            </a:r>
            <a:r>
              <a:rPr lang="en-US" sz="1800" spc="15" dirty="0" smtClean="0">
                <a:latin typeface="Times New Roman"/>
                <a:cs typeface="Times New Roman"/>
              </a:rPr>
              <a:t> </a:t>
            </a:r>
            <a:r>
              <a:rPr lang="en-US" sz="1800" dirty="0" smtClean="0">
                <a:latin typeface="Times New Roman"/>
                <a:cs typeface="Times New Roman"/>
              </a:rPr>
              <a:t>simultaneous</a:t>
            </a:r>
            <a:r>
              <a:rPr lang="en-US" sz="1800" spc="-30" dirty="0" smtClean="0">
                <a:latin typeface="Times New Roman"/>
                <a:cs typeface="Times New Roman"/>
              </a:rPr>
              <a:t> </a:t>
            </a:r>
            <a:r>
              <a:rPr lang="en-US" sz="1800" dirty="0" smtClean="0">
                <a:latin typeface="Times New Roman"/>
                <a:cs typeface="Times New Roman"/>
              </a:rPr>
              <a:t>requests</a:t>
            </a:r>
            <a:r>
              <a:rPr lang="en-US" sz="1800" spc="-35" dirty="0" smtClean="0">
                <a:latin typeface="Times New Roman"/>
                <a:cs typeface="Times New Roman"/>
              </a:rPr>
              <a:t> </a:t>
            </a:r>
            <a:r>
              <a:rPr lang="en-US" sz="1800" dirty="0" smtClean="0">
                <a:latin typeface="Times New Roman"/>
                <a:cs typeface="Times New Roman"/>
              </a:rPr>
              <a:t>efficiently</a:t>
            </a:r>
            <a:r>
              <a:rPr lang="en-US" sz="1800" spc="-10" dirty="0" smtClean="0">
                <a:latin typeface="Times New Roman"/>
                <a:cs typeface="Times New Roman"/>
              </a:rPr>
              <a:t> </a:t>
            </a:r>
            <a:r>
              <a:rPr lang="en-US" sz="1800" dirty="0" smtClean="0">
                <a:latin typeface="Times New Roman"/>
                <a:cs typeface="Times New Roman"/>
              </a:rPr>
              <a:t>using</a:t>
            </a:r>
            <a:r>
              <a:rPr lang="en-US" sz="1800" spc="-10" dirty="0" smtClean="0">
                <a:latin typeface="Times New Roman"/>
                <a:cs typeface="Times New Roman"/>
              </a:rPr>
              <a:t> </a:t>
            </a:r>
            <a:r>
              <a:rPr lang="en-US" sz="1800" dirty="0" smtClean="0">
                <a:latin typeface="Times New Roman"/>
                <a:cs typeface="Times New Roman"/>
              </a:rPr>
              <a:t>an</a:t>
            </a:r>
            <a:r>
              <a:rPr lang="en-US" sz="1800" spc="-10" dirty="0" smtClean="0">
                <a:latin typeface="Times New Roman"/>
                <a:cs typeface="Times New Roman"/>
              </a:rPr>
              <a:t> </a:t>
            </a:r>
            <a:r>
              <a:rPr lang="en-US" sz="1800" dirty="0" smtClean="0">
                <a:latin typeface="Times New Roman"/>
                <a:cs typeface="Times New Roman"/>
              </a:rPr>
              <a:t>asynchronous,</a:t>
            </a:r>
            <a:r>
              <a:rPr lang="en-US" sz="1800" spc="-5" dirty="0" smtClean="0">
                <a:latin typeface="Times New Roman"/>
                <a:cs typeface="Times New Roman"/>
              </a:rPr>
              <a:t> </a:t>
            </a:r>
            <a:r>
              <a:rPr lang="en-US" sz="1800" spc="-25" dirty="0" smtClean="0">
                <a:latin typeface="Times New Roman"/>
                <a:cs typeface="Times New Roman"/>
              </a:rPr>
              <a:t>non-</a:t>
            </a:r>
            <a:r>
              <a:rPr lang="en-US" sz="1800" spc="-10" dirty="0" smtClean="0">
                <a:latin typeface="Times New Roman"/>
                <a:cs typeface="Times New Roman"/>
              </a:rPr>
              <a:t>blocking architecture.</a:t>
            </a:r>
            <a:endParaRPr lang="en-US" sz="1800" dirty="0" smtClean="0">
              <a:latin typeface="Times New Roman"/>
              <a:cs typeface="Times New Roman"/>
            </a:endParaRPr>
          </a:p>
          <a:p>
            <a:pPr marL="355600" marR="5080" lvl="1" indent="-343535">
              <a:lnSpc>
                <a:spcPct val="100800"/>
              </a:lnSpc>
              <a:spcBef>
                <a:spcPts val="375"/>
              </a:spcBef>
              <a:buFont typeface="Arial"/>
              <a:buChar char="•"/>
              <a:tabLst>
                <a:tab pos="355600" algn="l"/>
              </a:tabLst>
            </a:pPr>
            <a:r>
              <a:rPr lang="en-US" sz="1800" dirty="0" smtClean="0">
                <a:latin typeface="Times New Roman"/>
                <a:cs typeface="Times New Roman"/>
              </a:rPr>
              <a:t>Facilitates</a:t>
            </a:r>
            <a:r>
              <a:rPr lang="en-US" sz="1800" spc="35" dirty="0" smtClean="0">
                <a:latin typeface="Times New Roman"/>
                <a:cs typeface="Times New Roman"/>
              </a:rPr>
              <a:t> </a:t>
            </a:r>
            <a:r>
              <a:rPr lang="en-US" sz="1800" dirty="0" smtClean="0">
                <a:latin typeface="Times New Roman"/>
                <a:cs typeface="Times New Roman"/>
              </a:rPr>
              <a:t>seamless</a:t>
            </a:r>
            <a:r>
              <a:rPr lang="en-US" sz="1800" spc="-25" dirty="0" smtClean="0">
                <a:latin typeface="Times New Roman"/>
                <a:cs typeface="Times New Roman"/>
              </a:rPr>
              <a:t> </a:t>
            </a:r>
            <a:r>
              <a:rPr lang="en-US" sz="1800" dirty="0" smtClean="0">
                <a:latin typeface="Times New Roman"/>
                <a:cs typeface="Times New Roman"/>
              </a:rPr>
              <a:t>integration between the</a:t>
            </a:r>
            <a:r>
              <a:rPr lang="en-US" sz="1800" spc="-50" dirty="0" smtClean="0">
                <a:latin typeface="Times New Roman"/>
                <a:cs typeface="Times New Roman"/>
              </a:rPr>
              <a:t> </a:t>
            </a:r>
            <a:r>
              <a:rPr lang="en-US" sz="1800" dirty="0" smtClean="0">
                <a:latin typeface="Times New Roman"/>
                <a:cs typeface="Times New Roman"/>
              </a:rPr>
              <a:t>frontend</a:t>
            </a:r>
            <a:r>
              <a:rPr lang="en-US" sz="1800" spc="5" dirty="0" smtClean="0">
                <a:latin typeface="Times New Roman"/>
                <a:cs typeface="Times New Roman"/>
              </a:rPr>
              <a:t> </a:t>
            </a:r>
            <a:r>
              <a:rPr lang="en-US" sz="1800" dirty="0" smtClean="0">
                <a:latin typeface="Times New Roman"/>
                <a:cs typeface="Times New Roman"/>
              </a:rPr>
              <a:t>and backend using a</a:t>
            </a:r>
            <a:r>
              <a:rPr lang="en-US" sz="1800" spc="30" dirty="0" smtClean="0">
                <a:latin typeface="Times New Roman"/>
                <a:cs typeface="Times New Roman"/>
              </a:rPr>
              <a:t> </a:t>
            </a:r>
            <a:r>
              <a:rPr lang="en-US" sz="1800" dirty="0" smtClean="0">
                <a:latin typeface="Times New Roman"/>
                <a:cs typeface="Times New Roman"/>
              </a:rPr>
              <a:t>single</a:t>
            </a:r>
            <a:r>
              <a:rPr lang="en-US" sz="1800" spc="-45" dirty="0" smtClean="0">
                <a:latin typeface="Times New Roman"/>
                <a:cs typeface="Times New Roman"/>
              </a:rPr>
              <a:t> </a:t>
            </a:r>
            <a:r>
              <a:rPr lang="en-US" sz="1800" spc="-10" dirty="0" smtClean="0">
                <a:latin typeface="Times New Roman"/>
                <a:cs typeface="Times New Roman"/>
              </a:rPr>
              <a:t>language (JavaScript).</a:t>
            </a:r>
            <a:endParaRPr lang="en-US" sz="1800" dirty="0" smtClean="0">
              <a:latin typeface="Times New Roman"/>
              <a:cs typeface="Times New Roman"/>
            </a:endParaRPr>
          </a:p>
          <a:p>
            <a:pPr marL="12700" marR="6167120">
              <a:lnSpc>
                <a:spcPct val="121600"/>
              </a:lnSpc>
              <a:spcBef>
                <a:spcPts val="100"/>
              </a:spcBef>
              <a:tabLst>
                <a:tab pos="241300" algn="l"/>
              </a:tabLst>
            </a:pPr>
            <a:endParaRPr sz="1800" dirty="0">
              <a:latin typeface="Times New Roman"/>
              <a:cs typeface="Times New Roman"/>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97" y="99694"/>
            <a:ext cx="6238875" cy="492443"/>
          </a:xfrm>
        </p:spPr>
        <p:txBody>
          <a:bodyPr/>
          <a:lstStyle/>
          <a:p>
            <a:pPr algn="ctr"/>
            <a:r>
              <a:rPr lang="en-US" dirty="0" smtClean="0"/>
              <a:t>Technology Stack</a:t>
            </a:r>
            <a:endParaRPr lang="en-US" dirty="0"/>
          </a:p>
        </p:txBody>
      </p:sp>
      <p:sp>
        <p:nvSpPr>
          <p:cNvPr id="3" name="Text Placeholder 2"/>
          <p:cNvSpPr>
            <a:spLocks noGrp="1"/>
          </p:cNvSpPr>
          <p:nvPr>
            <p:ph type="body" idx="1"/>
          </p:nvPr>
        </p:nvSpPr>
        <p:spPr>
          <a:xfrm>
            <a:off x="132397" y="914400"/>
            <a:ext cx="8609013" cy="4696303"/>
          </a:xfrm>
        </p:spPr>
        <p:txBody>
          <a:bodyPr/>
          <a:lstStyle/>
          <a:p>
            <a:pPr marL="12700">
              <a:lnSpc>
                <a:spcPct val="100000"/>
              </a:lnSpc>
              <a:spcBef>
                <a:spcPts val="570"/>
              </a:spcBef>
            </a:pPr>
            <a:r>
              <a:rPr lang="en-US" b="1" spc="-10" dirty="0">
                <a:latin typeface="Times New Roman"/>
                <a:cs typeface="Times New Roman"/>
              </a:rPr>
              <a:t>Express.js</a:t>
            </a:r>
            <a:endParaRPr lang="en-US" dirty="0">
              <a:latin typeface="Times New Roman"/>
              <a:cs typeface="Times New Roman"/>
            </a:endParaRPr>
          </a:p>
          <a:p>
            <a:pPr marL="355600" indent="-342900">
              <a:lnSpc>
                <a:spcPct val="100000"/>
              </a:lnSpc>
              <a:spcBef>
                <a:spcPts val="470"/>
              </a:spcBef>
              <a:buFont typeface="Arial"/>
              <a:buChar char="•"/>
              <a:tabLst>
                <a:tab pos="355600" algn="l"/>
              </a:tabLst>
            </a:pPr>
            <a:r>
              <a:rPr lang="en-US" dirty="0">
                <a:latin typeface="Times New Roman"/>
                <a:cs typeface="Times New Roman"/>
              </a:rPr>
              <a:t>A</a:t>
            </a:r>
            <a:r>
              <a:rPr lang="en-US" spc="-114" dirty="0">
                <a:latin typeface="Times New Roman"/>
                <a:cs typeface="Times New Roman"/>
              </a:rPr>
              <a:t> </a:t>
            </a:r>
            <a:r>
              <a:rPr lang="en-US" dirty="0">
                <a:latin typeface="Times New Roman"/>
                <a:cs typeface="Times New Roman"/>
              </a:rPr>
              <a:t>lightweight</a:t>
            </a:r>
            <a:r>
              <a:rPr lang="en-US" spc="-55" dirty="0">
                <a:latin typeface="Times New Roman"/>
                <a:cs typeface="Times New Roman"/>
              </a:rPr>
              <a:t> </a:t>
            </a:r>
            <a:r>
              <a:rPr lang="en-US" dirty="0">
                <a:latin typeface="Times New Roman"/>
                <a:cs typeface="Times New Roman"/>
              </a:rPr>
              <a:t>web framework for Node.js</a:t>
            </a:r>
            <a:r>
              <a:rPr lang="en-US" spc="40" dirty="0">
                <a:latin typeface="Times New Roman"/>
                <a:cs typeface="Times New Roman"/>
              </a:rPr>
              <a:t> </a:t>
            </a:r>
            <a:r>
              <a:rPr lang="en-US" dirty="0">
                <a:latin typeface="Times New Roman"/>
                <a:cs typeface="Times New Roman"/>
              </a:rPr>
              <a:t>used</a:t>
            </a:r>
            <a:r>
              <a:rPr lang="en-US" spc="-5" dirty="0">
                <a:latin typeface="Times New Roman"/>
                <a:cs typeface="Times New Roman"/>
              </a:rPr>
              <a:t> </a:t>
            </a:r>
            <a:r>
              <a:rPr lang="en-US" dirty="0">
                <a:latin typeface="Times New Roman"/>
                <a:cs typeface="Times New Roman"/>
              </a:rPr>
              <a:t>to build</a:t>
            </a:r>
            <a:r>
              <a:rPr lang="en-US" spc="-5" dirty="0">
                <a:latin typeface="Times New Roman"/>
                <a:cs typeface="Times New Roman"/>
              </a:rPr>
              <a:t> </a:t>
            </a:r>
            <a:r>
              <a:rPr lang="en-US" dirty="0">
                <a:latin typeface="Times New Roman"/>
                <a:cs typeface="Times New Roman"/>
              </a:rPr>
              <a:t>RESTful</a:t>
            </a:r>
            <a:r>
              <a:rPr lang="en-US" spc="-45" dirty="0">
                <a:latin typeface="Times New Roman"/>
                <a:cs typeface="Times New Roman"/>
              </a:rPr>
              <a:t> </a:t>
            </a:r>
            <a:r>
              <a:rPr lang="en-US" spc="-10" dirty="0">
                <a:latin typeface="Times New Roman"/>
                <a:cs typeface="Times New Roman"/>
              </a:rPr>
              <a:t>APIs.</a:t>
            </a:r>
            <a:endParaRPr lang="en-US" dirty="0">
              <a:latin typeface="Times New Roman"/>
              <a:cs typeface="Times New Roman"/>
            </a:endParaRPr>
          </a:p>
          <a:p>
            <a:pPr marL="355600" indent="-342900">
              <a:lnSpc>
                <a:spcPct val="100000"/>
              </a:lnSpc>
              <a:spcBef>
                <a:spcPts val="390"/>
              </a:spcBef>
              <a:buFont typeface="Arial"/>
              <a:buChar char="•"/>
              <a:tabLst>
                <a:tab pos="355600" algn="l"/>
              </a:tabLst>
            </a:pPr>
            <a:r>
              <a:rPr lang="en-US" dirty="0">
                <a:latin typeface="Times New Roman"/>
                <a:cs typeface="Times New Roman"/>
              </a:rPr>
              <a:t>Simplifies</a:t>
            </a:r>
            <a:r>
              <a:rPr lang="en-US" spc="35" dirty="0">
                <a:latin typeface="Times New Roman"/>
                <a:cs typeface="Times New Roman"/>
              </a:rPr>
              <a:t> </a:t>
            </a:r>
            <a:r>
              <a:rPr lang="en-US" dirty="0">
                <a:latin typeface="Times New Roman"/>
                <a:cs typeface="Times New Roman"/>
              </a:rPr>
              <a:t>backend</a:t>
            </a:r>
            <a:r>
              <a:rPr lang="en-US" spc="-10" dirty="0">
                <a:latin typeface="Times New Roman"/>
                <a:cs typeface="Times New Roman"/>
              </a:rPr>
              <a:t> </a:t>
            </a:r>
            <a:r>
              <a:rPr lang="en-US" dirty="0">
                <a:latin typeface="Times New Roman"/>
                <a:cs typeface="Times New Roman"/>
              </a:rPr>
              <a:t>development</a:t>
            </a:r>
            <a:r>
              <a:rPr lang="en-US" spc="15" dirty="0">
                <a:latin typeface="Times New Roman"/>
                <a:cs typeface="Times New Roman"/>
              </a:rPr>
              <a:t> </a:t>
            </a:r>
            <a:r>
              <a:rPr lang="en-US" dirty="0">
                <a:latin typeface="Times New Roman"/>
                <a:cs typeface="Times New Roman"/>
              </a:rPr>
              <a:t>by</a:t>
            </a:r>
            <a:r>
              <a:rPr lang="en-US" spc="-10" dirty="0">
                <a:latin typeface="Times New Roman"/>
                <a:cs typeface="Times New Roman"/>
              </a:rPr>
              <a:t> </a:t>
            </a:r>
            <a:r>
              <a:rPr lang="en-US" dirty="0">
                <a:latin typeface="Times New Roman"/>
                <a:cs typeface="Times New Roman"/>
              </a:rPr>
              <a:t>providing</a:t>
            </a:r>
            <a:r>
              <a:rPr lang="en-US" spc="-10" dirty="0">
                <a:latin typeface="Times New Roman"/>
                <a:cs typeface="Times New Roman"/>
              </a:rPr>
              <a:t> </a:t>
            </a:r>
            <a:r>
              <a:rPr lang="en-US" dirty="0">
                <a:latin typeface="Times New Roman"/>
                <a:cs typeface="Times New Roman"/>
              </a:rPr>
              <a:t>robust</a:t>
            </a:r>
            <a:r>
              <a:rPr lang="en-US" spc="20" dirty="0">
                <a:latin typeface="Times New Roman"/>
                <a:cs typeface="Times New Roman"/>
              </a:rPr>
              <a:t> </a:t>
            </a:r>
            <a:r>
              <a:rPr lang="en-US" dirty="0">
                <a:latin typeface="Times New Roman"/>
                <a:cs typeface="Times New Roman"/>
              </a:rPr>
              <a:t>routing</a:t>
            </a:r>
            <a:r>
              <a:rPr lang="en-US" spc="-10" dirty="0">
                <a:latin typeface="Times New Roman"/>
                <a:cs typeface="Times New Roman"/>
              </a:rPr>
              <a:t> </a:t>
            </a:r>
            <a:r>
              <a:rPr lang="en-US" dirty="0">
                <a:latin typeface="Times New Roman"/>
                <a:cs typeface="Times New Roman"/>
              </a:rPr>
              <a:t>and</a:t>
            </a:r>
            <a:r>
              <a:rPr lang="en-US" spc="-10" dirty="0">
                <a:latin typeface="Times New Roman"/>
                <a:cs typeface="Times New Roman"/>
              </a:rPr>
              <a:t> </a:t>
            </a:r>
            <a:r>
              <a:rPr lang="en-US" dirty="0">
                <a:latin typeface="Times New Roman"/>
                <a:cs typeface="Times New Roman"/>
              </a:rPr>
              <a:t>middleware</a:t>
            </a:r>
            <a:r>
              <a:rPr lang="en-US" spc="-50" dirty="0">
                <a:latin typeface="Times New Roman"/>
                <a:cs typeface="Times New Roman"/>
              </a:rPr>
              <a:t> </a:t>
            </a:r>
            <a:r>
              <a:rPr lang="en-US" spc="-10" dirty="0">
                <a:latin typeface="Times New Roman"/>
                <a:cs typeface="Times New Roman"/>
              </a:rPr>
              <a:t>support.</a:t>
            </a:r>
            <a:endParaRPr lang="en-US" dirty="0">
              <a:latin typeface="Times New Roman"/>
              <a:cs typeface="Times New Roman"/>
            </a:endParaRPr>
          </a:p>
          <a:p>
            <a:pPr marL="355600" indent="-342900">
              <a:lnSpc>
                <a:spcPct val="100000"/>
              </a:lnSpc>
              <a:spcBef>
                <a:spcPts val="470"/>
              </a:spcBef>
              <a:buFont typeface="Arial"/>
              <a:buChar char="•"/>
              <a:tabLst>
                <a:tab pos="355600" algn="l"/>
              </a:tabLst>
            </a:pPr>
            <a:r>
              <a:rPr lang="en-US" dirty="0">
                <a:latin typeface="Times New Roman"/>
                <a:cs typeface="Times New Roman"/>
              </a:rPr>
              <a:t>Ensures</a:t>
            </a:r>
            <a:r>
              <a:rPr lang="en-US" spc="-15" dirty="0">
                <a:latin typeface="Times New Roman"/>
                <a:cs typeface="Times New Roman"/>
              </a:rPr>
              <a:t> </a:t>
            </a:r>
            <a:r>
              <a:rPr lang="en-US" dirty="0">
                <a:latin typeface="Times New Roman"/>
                <a:cs typeface="Times New Roman"/>
              </a:rPr>
              <a:t>secure</a:t>
            </a:r>
            <a:r>
              <a:rPr lang="en-US" spc="-25" dirty="0">
                <a:latin typeface="Times New Roman"/>
                <a:cs typeface="Times New Roman"/>
              </a:rPr>
              <a:t> </a:t>
            </a:r>
            <a:r>
              <a:rPr lang="en-US" dirty="0">
                <a:latin typeface="Times New Roman"/>
                <a:cs typeface="Times New Roman"/>
              </a:rPr>
              <a:t>data</a:t>
            </a:r>
            <a:r>
              <a:rPr lang="en-US" spc="-30" dirty="0">
                <a:latin typeface="Times New Roman"/>
                <a:cs typeface="Times New Roman"/>
              </a:rPr>
              <a:t> </a:t>
            </a:r>
            <a:r>
              <a:rPr lang="en-US" dirty="0">
                <a:latin typeface="Times New Roman"/>
                <a:cs typeface="Times New Roman"/>
              </a:rPr>
              <a:t>handling</a:t>
            </a:r>
            <a:r>
              <a:rPr lang="en-US" spc="20" dirty="0">
                <a:latin typeface="Times New Roman"/>
                <a:cs typeface="Times New Roman"/>
              </a:rPr>
              <a:t> </a:t>
            </a:r>
            <a:r>
              <a:rPr lang="en-US" dirty="0">
                <a:latin typeface="Times New Roman"/>
                <a:cs typeface="Times New Roman"/>
              </a:rPr>
              <a:t>and</a:t>
            </a:r>
            <a:r>
              <a:rPr lang="en-US" spc="25" dirty="0">
                <a:latin typeface="Times New Roman"/>
                <a:cs typeface="Times New Roman"/>
              </a:rPr>
              <a:t> </a:t>
            </a:r>
            <a:r>
              <a:rPr lang="en-US" dirty="0">
                <a:latin typeface="Times New Roman"/>
                <a:cs typeface="Times New Roman"/>
              </a:rPr>
              <a:t>authentication</a:t>
            </a:r>
            <a:r>
              <a:rPr lang="en-US" spc="25" dirty="0">
                <a:latin typeface="Times New Roman"/>
                <a:cs typeface="Times New Roman"/>
              </a:rPr>
              <a:t> </a:t>
            </a:r>
            <a:r>
              <a:rPr lang="en-US" spc="-10" dirty="0">
                <a:latin typeface="Times New Roman"/>
                <a:cs typeface="Times New Roman"/>
              </a:rPr>
              <a:t>processes.</a:t>
            </a:r>
            <a:endParaRPr lang="en-US" dirty="0">
              <a:latin typeface="Times New Roman"/>
              <a:cs typeface="Times New Roman"/>
            </a:endParaRPr>
          </a:p>
          <a:p>
            <a:pPr>
              <a:lnSpc>
                <a:spcPct val="100000"/>
              </a:lnSpc>
              <a:spcBef>
                <a:spcPts val="480"/>
              </a:spcBef>
            </a:pPr>
            <a:endParaRPr lang="en-US" dirty="0">
              <a:latin typeface="Times New Roman"/>
              <a:cs typeface="Times New Roman"/>
            </a:endParaRPr>
          </a:p>
          <a:p>
            <a:pPr marL="12700" marR="6021070" indent="228600">
              <a:lnSpc>
                <a:spcPct val="121800"/>
              </a:lnSpc>
              <a:buAutoNum type="arabicPeriod" startAt="3"/>
              <a:tabLst>
                <a:tab pos="241300" algn="l"/>
              </a:tabLst>
            </a:pPr>
            <a:r>
              <a:rPr lang="en-US" b="1" dirty="0">
                <a:latin typeface="Times New Roman"/>
                <a:cs typeface="Times New Roman"/>
              </a:rPr>
              <a:t>Database</a:t>
            </a:r>
            <a:r>
              <a:rPr lang="en-US" b="1" spc="10" dirty="0">
                <a:latin typeface="Times New Roman"/>
                <a:cs typeface="Times New Roman"/>
              </a:rPr>
              <a:t> </a:t>
            </a:r>
            <a:r>
              <a:rPr lang="en-US" b="1" spc="-10" dirty="0">
                <a:latin typeface="Times New Roman"/>
                <a:cs typeface="Times New Roman"/>
              </a:rPr>
              <a:t>Management MongoDB</a:t>
            </a:r>
            <a:endParaRPr lang="en-US" dirty="0">
              <a:latin typeface="Times New Roman"/>
              <a:cs typeface="Times New Roman"/>
            </a:endParaRPr>
          </a:p>
          <a:p>
            <a:pPr marL="355600" lvl="1" indent="-342900">
              <a:lnSpc>
                <a:spcPct val="100000"/>
              </a:lnSpc>
              <a:spcBef>
                <a:spcPts val="390"/>
              </a:spcBef>
              <a:buFont typeface="Arial"/>
              <a:buChar char="•"/>
              <a:tabLst>
                <a:tab pos="355600" algn="l"/>
              </a:tabLst>
            </a:pPr>
            <a:r>
              <a:rPr lang="en-US" dirty="0">
                <a:latin typeface="Times New Roman"/>
                <a:cs typeface="Times New Roman"/>
              </a:rPr>
              <a:t>A</a:t>
            </a:r>
            <a:r>
              <a:rPr lang="en-US" spc="-105" dirty="0">
                <a:latin typeface="Times New Roman"/>
                <a:cs typeface="Times New Roman"/>
              </a:rPr>
              <a:t> </a:t>
            </a:r>
            <a:r>
              <a:rPr lang="en-US" dirty="0">
                <a:latin typeface="Times New Roman"/>
                <a:cs typeface="Times New Roman"/>
              </a:rPr>
              <a:t>NoSQL</a:t>
            </a:r>
            <a:r>
              <a:rPr lang="en-US" spc="-40" dirty="0">
                <a:latin typeface="Times New Roman"/>
                <a:cs typeface="Times New Roman"/>
              </a:rPr>
              <a:t> </a:t>
            </a:r>
            <a:r>
              <a:rPr lang="en-US" dirty="0">
                <a:latin typeface="Times New Roman"/>
                <a:cs typeface="Times New Roman"/>
              </a:rPr>
              <a:t>database</a:t>
            </a:r>
            <a:r>
              <a:rPr lang="en-US" spc="-40" dirty="0">
                <a:latin typeface="Times New Roman"/>
                <a:cs typeface="Times New Roman"/>
              </a:rPr>
              <a:t> </a:t>
            </a:r>
            <a:r>
              <a:rPr lang="en-US" dirty="0">
                <a:latin typeface="Times New Roman"/>
                <a:cs typeface="Times New Roman"/>
              </a:rPr>
              <a:t>that</a:t>
            </a:r>
            <a:r>
              <a:rPr lang="en-US" spc="-40" dirty="0">
                <a:latin typeface="Times New Roman"/>
                <a:cs typeface="Times New Roman"/>
              </a:rPr>
              <a:t> </a:t>
            </a:r>
            <a:r>
              <a:rPr lang="en-US" dirty="0">
                <a:latin typeface="Times New Roman"/>
                <a:cs typeface="Times New Roman"/>
              </a:rPr>
              <a:t>stores</a:t>
            </a:r>
            <a:r>
              <a:rPr lang="en-US" spc="-15" dirty="0">
                <a:latin typeface="Times New Roman"/>
                <a:cs typeface="Times New Roman"/>
              </a:rPr>
              <a:t> </a:t>
            </a:r>
            <a:r>
              <a:rPr lang="en-US" dirty="0">
                <a:latin typeface="Times New Roman"/>
                <a:cs typeface="Times New Roman"/>
              </a:rPr>
              <a:t>data</a:t>
            </a:r>
            <a:r>
              <a:rPr lang="en-US" spc="-40" dirty="0">
                <a:latin typeface="Times New Roman"/>
                <a:cs typeface="Times New Roman"/>
              </a:rPr>
              <a:t> </a:t>
            </a:r>
            <a:r>
              <a:rPr lang="en-US" dirty="0">
                <a:latin typeface="Times New Roman"/>
                <a:cs typeface="Times New Roman"/>
              </a:rPr>
              <a:t>in</a:t>
            </a:r>
            <a:r>
              <a:rPr lang="en-US" spc="10" dirty="0">
                <a:latin typeface="Times New Roman"/>
                <a:cs typeface="Times New Roman"/>
              </a:rPr>
              <a:t> </a:t>
            </a:r>
            <a:r>
              <a:rPr lang="en-US" dirty="0">
                <a:latin typeface="Times New Roman"/>
                <a:cs typeface="Times New Roman"/>
              </a:rPr>
              <a:t>a</a:t>
            </a:r>
            <a:r>
              <a:rPr lang="en-US" spc="35" dirty="0">
                <a:latin typeface="Times New Roman"/>
                <a:cs typeface="Times New Roman"/>
              </a:rPr>
              <a:t> </a:t>
            </a:r>
            <a:r>
              <a:rPr lang="en-US" dirty="0">
                <a:latin typeface="Times New Roman"/>
                <a:cs typeface="Times New Roman"/>
              </a:rPr>
              <a:t>flexible</a:t>
            </a:r>
            <a:r>
              <a:rPr lang="en-US" spc="35" dirty="0">
                <a:latin typeface="Times New Roman"/>
                <a:cs typeface="Times New Roman"/>
              </a:rPr>
              <a:t> </a:t>
            </a:r>
            <a:r>
              <a:rPr lang="en-US" spc="-20" dirty="0">
                <a:latin typeface="Times New Roman"/>
                <a:cs typeface="Times New Roman"/>
              </a:rPr>
              <a:t>JSON-</a:t>
            </a:r>
            <a:r>
              <a:rPr lang="en-US" dirty="0">
                <a:latin typeface="Times New Roman"/>
                <a:cs typeface="Times New Roman"/>
              </a:rPr>
              <a:t>like</a:t>
            </a:r>
            <a:r>
              <a:rPr lang="en-US" spc="35" dirty="0">
                <a:latin typeface="Times New Roman"/>
                <a:cs typeface="Times New Roman"/>
              </a:rPr>
              <a:t> </a:t>
            </a:r>
            <a:r>
              <a:rPr lang="en-US" spc="-10" dirty="0">
                <a:latin typeface="Times New Roman"/>
                <a:cs typeface="Times New Roman"/>
              </a:rPr>
              <a:t>format.</a:t>
            </a:r>
            <a:endParaRPr lang="en-US" dirty="0">
              <a:latin typeface="Times New Roman"/>
              <a:cs typeface="Times New Roman"/>
            </a:endParaRPr>
          </a:p>
          <a:p>
            <a:pPr marL="355600" lvl="1" indent="-342900">
              <a:lnSpc>
                <a:spcPct val="100000"/>
              </a:lnSpc>
              <a:spcBef>
                <a:spcPts val="475"/>
              </a:spcBef>
              <a:buFont typeface="Arial"/>
              <a:buChar char="•"/>
              <a:tabLst>
                <a:tab pos="355600" algn="l"/>
              </a:tabLst>
            </a:pPr>
            <a:r>
              <a:rPr lang="en-US" dirty="0">
                <a:latin typeface="Times New Roman"/>
                <a:cs typeface="Times New Roman"/>
              </a:rPr>
              <a:t>Provides</a:t>
            </a:r>
            <a:r>
              <a:rPr lang="en-US" spc="-35" dirty="0">
                <a:latin typeface="Times New Roman"/>
                <a:cs typeface="Times New Roman"/>
              </a:rPr>
              <a:t> </a:t>
            </a:r>
            <a:r>
              <a:rPr lang="en-US" dirty="0">
                <a:latin typeface="Times New Roman"/>
                <a:cs typeface="Times New Roman"/>
              </a:rPr>
              <a:t>high scalability</a:t>
            </a:r>
            <a:r>
              <a:rPr lang="en-US" spc="5" dirty="0">
                <a:latin typeface="Times New Roman"/>
                <a:cs typeface="Times New Roman"/>
              </a:rPr>
              <a:t> </a:t>
            </a:r>
            <a:r>
              <a:rPr lang="en-US" dirty="0">
                <a:latin typeface="Times New Roman"/>
                <a:cs typeface="Times New Roman"/>
              </a:rPr>
              <a:t>and performance</a:t>
            </a:r>
            <a:r>
              <a:rPr lang="en-US" spc="-50" dirty="0">
                <a:latin typeface="Times New Roman"/>
                <a:cs typeface="Times New Roman"/>
              </a:rPr>
              <a:t> </a:t>
            </a:r>
            <a:r>
              <a:rPr lang="en-US" dirty="0">
                <a:latin typeface="Times New Roman"/>
                <a:cs typeface="Times New Roman"/>
              </a:rPr>
              <a:t>for</a:t>
            </a:r>
            <a:r>
              <a:rPr lang="en-US" spc="10" dirty="0">
                <a:latin typeface="Times New Roman"/>
                <a:cs typeface="Times New Roman"/>
              </a:rPr>
              <a:t> </a:t>
            </a:r>
            <a:r>
              <a:rPr lang="en-US" dirty="0">
                <a:latin typeface="Times New Roman"/>
                <a:cs typeface="Times New Roman"/>
              </a:rPr>
              <a:t>handling large</a:t>
            </a:r>
            <a:r>
              <a:rPr lang="en-US" spc="25" dirty="0">
                <a:latin typeface="Times New Roman"/>
                <a:cs typeface="Times New Roman"/>
              </a:rPr>
              <a:t> </a:t>
            </a:r>
            <a:r>
              <a:rPr lang="en-US" dirty="0">
                <a:latin typeface="Times New Roman"/>
                <a:cs typeface="Times New Roman"/>
              </a:rPr>
              <a:t>volumes</a:t>
            </a:r>
            <a:r>
              <a:rPr lang="en-US" spc="-20" dirty="0">
                <a:latin typeface="Times New Roman"/>
                <a:cs typeface="Times New Roman"/>
              </a:rPr>
              <a:t> </a:t>
            </a:r>
            <a:r>
              <a:rPr lang="en-US" dirty="0">
                <a:latin typeface="Times New Roman"/>
                <a:cs typeface="Times New Roman"/>
              </a:rPr>
              <a:t>of</a:t>
            </a:r>
            <a:r>
              <a:rPr lang="en-US" spc="5" dirty="0">
                <a:latin typeface="Times New Roman"/>
                <a:cs typeface="Times New Roman"/>
              </a:rPr>
              <a:t> </a:t>
            </a:r>
            <a:r>
              <a:rPr lang="en-US" dirty="0">
                <a:latin typeface="Times New Roman"/>
                <a:cs typeface="Times New Roman"/>
              </a:rPr>
              <a:t>healthcare</a:t>
            </a:r>
            <a:r>
              <a:rPr lang="en-US" spc="30" dirty="0">
                <a:latin typeface="Times New Roman"/>
                <a:cs typeface="Times New Roman"/>
              </a:rPr>
              <a:t> </a:t>
            </a:r>
            <a:r>
              <a:rPr lang="en-US" spc="-10" dirty="0">
                <a:latin typeface="Times New Roman"/>
                <a:cs typeface="Times New Roman"/>
              </a:rPr>
              <a:t>data.</a:t>
            </a:r>
            <a:endParaRPr lang="en-US" dirty="0">
              <a:latin typeface="Times New Roman"/>
              <a:cs typeface="Times New Roman"/>
            </a:endParaRPr>
          </a:p>
          <a:p>
            <a:pPr marL="355600" lvl="1" indent="-342900">
              <a:lnSpc>
                <a:spcPct val="100000"/>
              </a:lnSpc>
              <a:spcBef>
                <a:spcPts val="390"/>
              </a:spcBef>
              <a:buFont typeface="Arial"/>
              <a:buChar char="•"/>
              <a:tabLst>
                <a:tab pos="355600" algn="l"/>
              </a:tabLst>
            </a:pPr>
            <a:r>
              <a:rPr lang="en-US" dirty="0">
                <a:latin typeface="Times New Roman"/>
                <a:cs typeface="Times New Roman"/>
              </a:rPr>
              <a:t>Uses</a:t>
            </a:r>
            <a:r>
              <a:rPr lang="en-US" spc="15" dirty="0">
                <a:latin typeface="Times New Roman"/>
                <a:cs typeface="Times New Roman"/>
              </a:rPr>
              <a:t> </a:t>
            </a:r>
            <a:r>
              <a:rPr lang="en-US" dirty="0">
                <a:latin typeface="Times New Roman"/>
                <a:cs typeface="Times New Roman"/>
              </a:rPr>
              <a:t>collections</a:t>
            </a:r>
            <a:r>
              <a:rPr lang="en-US" spc="35" dirty="0">
                <a:latin typeface="Times New Roman"/>
                <a:cs typeface="Times New Roman"/>
              </a:rPr>
              <a:t> </a:t>
            </a:r>
            <a:r>
              <a:rPr lang="en-US" dirty="0">
                <a:latin typeface="Times New Roman"/>
                <a:cs typeface="Times New Roman"/>
              </a:rPr>
              <a:t>to</a:t>
            </a:r>
            <a:r>
              <a:rPr lang="en-US" spc="-15" dirty="0">
                <a:latin typeface="Times New Roman"/>
                <a:cs typeface="Times New Roman"/>
              </a:rPr>
              <a:t> </a:t>
            </a:r>
            <a:r>
              <a:rPr lang="en-US" dirty="0">
                <a:latin typeface="Times New Roman"/>
                <a:cs typeface="Times New Roman"/>
              </a:rPr>
              <a:t>manage</a:t>
            </a:r>
            <a:r>
              <a:rPr lang="en-US" spc="10" dirty="0">
                <a:latin typeface="Times New Roman"/>
                <a:cs typeface="Times New Roman"/>
              </a:rPr>
              <a:t> </a:t>
            </a:r>
            <a:r>
              <a:rPr lang="en-US" dirty="0">
                <a:latin typeface="Times New Roman"/>
                <a:cs typeface="Times New Roman"/>
              </a:rPr>
              <a:t>users,</a:t>
            </a:r>
            <a:r>
              <a:rPr lang="en-US" spc="-10" dirty="0">
                <a:latin typeface="Times New Roman"/>
                <a:cs typeface="Times New Roman"/>
              </a:rPr>
              <a:t> </a:t>
            </a:r>
            <a:r>
              <a:rPr lang="en-US" dirty="0">
                <a:latin typeface="Times New Roman"/>
                <a:cs typeface="Times New Roman"/>
              </a:rPr>
              <a:t>doctors,</a:t>
            </a:r>
            <a:r>
              <a:rPr lang="en-US" spc="-15" dirty="0">
                <a:latin typeface="Times New Roman"/>
                <a:cs typeface="Times New Roman"/>
              </a:rPr>
              <a:t> </a:t>
            </a:r>
            <a:r>
              <a:rPr lang="en-US" dirty="0">
                <a:latin typeface="Times New Roman"/>
                <a:cs typeface="Times New Roman"/>
              </a:rPr>
              <a:t>appointments,</a:t>
            </a:r>
            <a:r>
              <a:rPr lang="en-US" spc="-15" dirty="0">
                <a:latin typeface="Times New Roman"/>
                <a:cs typeface="Times New Roman"/>
              </a:rPr>
              <a:t> </a:t>
            </a:r>
            <a:r>
              <a:rPr lang="en-US" dirty="0">
                <a:latin typeface="Times New Roman"/>
                <a:cs typeface="Times New Roman"/>
              </a:rPr>
              <a:t>and</a:t>
            </a:r>
            <a:r>
              <a:rPr lang="en-US" spc="-15" dirty="0">
                <a:latin typeface="Times New Roman"/>
                <a:cs typeface="Times New Roman"/>
              </a:rPr>
              <a:t> </a:t>
            </a:r>
            <a:r>
              <a:rPr lang="en-US" dirty="0">
                <a:latin typeface="Times New Roman"/>
                <a:cs typeface="Times New Roman"/>
              </a:rPr>
              <a:t>payments</a:t>
            </a:r>
            <a:r>
              <a:rPr lang="en-US" spc="-35" dirty="0">
                <a:latin typeface="Times New Roman"/>
                <a:cs typeface="Times New Roman"/>
              </a:rPr>
              <a:t> </a:t>
            </a:r>
            <a:r>
              <a:rPr lang="en-US" spc="-10" dirty="0">
                <a:latin typeface="Times New Roman"/>
                <a:cs typeface="Times New Roman"/>
              </a:rPr>
              <a:t>efficiently.</a:t>
            </a:r>
            <a:endParaRPr lang="en-US" dirty="0">
              <a:latin typeface="Times New Roman"/>
              <a:cs typeface="Times New Roman"/>
            </a:endParaRPr>
          </a:p>
          <a:p>
            <a:pPr>
              <a:lnSpc>
                <a:spcPct val="100000"/>
              </a:lnSpc>
              <a:spcBef>
                <a:spcPts val="484"/>
              </a:spcBef>
            </a:pPr>
            <a:endParaRPr lang="en-US" dirty="0">
              <a:latin typeface="Times New Roman"/>
              <a:cs typeface="Times New Roman"/>
            </a:endParaRPr>
          </a:p>
        </p:txBody>
      </p:sp>
    </p:spTree>
    <p:extLst>
      <p:ext uri="{BB962C8B-B14F-4D97-AF65-F5344CB8AC3E}">
        <p14:creationId xmlns:p14="http://schemas.microsoft.com/office/powerpoint/2010/main" val="28362852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397" y="99694"/>
            <a:ext cx="6238875" cy="509114"/>
          </a:xfrm>
          <a:prstGeom prst="rect">
            <a:avLst/>
          </a:prstGeom>
        </p:spPr>
        <p:txBody>
          <a:bodyPr vert="horz" wrap="square" lIns="0" tIns="16510" rIns="0" bIns="0" rtlCol="0">
            <a:spAutoFit/>
          </a:bodyPr>
          <a:lstStyle/>
          <a:p>
            <a:pPr marL="2089785">
              <a:lnSpc>
                <a:spcPct val="100000"/>
              </a:lnSpc>
              <a:spcBef>
                <a:spcPts val="130"/>
              </a:spcBef>
            </a:pPr>
            <a:r>
              <a:rPr lang="en-US" spc="-10" dirty="0" smtClean="0"/>
              <a:t>Login/Signup Page</a:t>
            </a:r>
            <a:endParaRPr spc="-1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397" y="1295400"/>
            <a:ext cx="4058603" cy="501084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00" y="1295400"/>
            <a:ext cx="3991553" cy="5106113"/>
          </a:xfrm>
          <a:prstGeom prst="rect">
            <a:avLst/>
          </a:prstGeom>
        </p:spPr>
      </p:pic>
    </p:spTree>
    <p:extLst>
      <p:ext uri="{BB962C8B-B14F-4D97-AF65-F5344CB8AC3E}">
        <p14:creationId xmlns:p14="http://schemas.microsoft.com/office/powerpoint/2010/main" val="5437071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0325" rIns="0" bIns="0" rtlCol="0">
            <a:spAutoFit/>
          </a:bodyPr>
          <a:lstStyle/>
          <a:p>
            <a:pPr marL="2152650">
              <a:lnSpc>
                <a:spcPct val="100000"/>
              </a:lnSpc>
              <a:spcBef>
                <a:spcPts val="130"/>
              </a:spcBef>
            </a:pPr>
            <a:r>
              <a:rPr spc="-10" dirty="0"/>
              <a:t>Conclusion</a:t>
            </a:r>
          </a:p>
        </p:txBody>
      </p:sp>
      <p:sp>
        <p:nvSpPr>
          <p:cNvPr id="3" name="object 3"/>
          <p:cNvSpPr txBox="1">
            <a:spLocks noGrp="1"/>
          </p:cNvSpPr>
          <p:nvPr>
            <p:ph type="body" idx="1"/>
          </p:nvPr>
        </p:nvSpPr>
        <p:spPr>
          <a:xfrm>
            <a:off x="446405" y="1352486"/>
            <a:ext cx="8295005" cy="3057888"/>
          </a:xfrm>
          <a:prstGeom prst="rect">
            <a:avLst/>
          </a:prstGeom>
        </p:spPr>
        <p:txBody>
          <a:bodyPr vert="horz" wrap="square" lIns="0" tIns="10795" rIns="0" bIns="0" rtlCol="0">
            <a:spAutoFit/>
          </a:bodyPr>
          <a:lstStyle/>
          <a:p>
            <a:r>
              <a:rPr lang="en-US" dirty="0"/>
              <a:t>The development of </a:t>
            </a:r>
            <a:r>
              <a:rPr lang="en-US" b="1" dirty="0" err="1"/>
              <a:t>FEMsafe</a:t>
            </a:r>
            <a:r>
              <a:rPr lang="en-US" b="1" dirty="0"/>
              <a:t> </a:t>
            </a:r>
            <a:r>
              <a:rPr lang="en-US" dirty="0"/>
              <a:t>aims to enhance women’s safety by providing an efficient and user-friendly digital platform for emergency support. By leveraging modern web technologies like React.js, Tailwind CSS, Node.js, Express.js, and MongoDB, the system ensures a fast, secure, and scalable experience. It enables users to quickly send SOS alerts, manage emergency contacts, and access safety features in one place</a:t>
            </a:r>
            <a:r>
              <a:rPr lang="en-US" dirty="0" smtClean="0"/>
              <a:t>.</a:t>
            </a:r>
          </a:p>
          <a:p>
            <a:endParaRPr lang="en-US" dirty="0"/>
          </a:p>
          <a:p>
            <a:r>
              <a:rPr lang="en-US" dirty="0"/>
              <a:t>In conclusion, </a:t>
            </a:r>
            <a:r>
              <a:rPr lang="en-US" b="1" dirty="0" err="1"/>
              <a:t>FEMsafe</a:t>
            </a:r>
            <a:r>
              <a:rPr lang="en-US" dirty="0"/>
              <a:t> successfully combines modern technologies to deliver a practical and accessible solution for personal safety. With a focus on reliability, quick response, and ease of use, this project opens the scope for future enhancements such as real-time tracking, integration with emergency services, and mobile applications, making it a valuable contribution toward technology-driven safety solutions.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97" y="99694"/>
            <a:ext cx="6238875" cy="492443"/>
          </a:xfrm>
        </p:spPr>
        <p:txBody>
          <a:bodyPr/>
          <a:lstStyle/>
          <a:p>
            <a:pPr algn="ctr"/>
            <a:r>
              <a:rPr lang="en-US" dirty="0" smtClean="0"/>
              <a:t>Future Scope</a:t>
            </a:r>
            <a:endParaRPr lang="en-US" dirty="0"/>
          </a:p>
        </p:txBody>
      </p:sp>
      <p:sp>
        <p:nvSpPr>
          <p:cNvPr id="3" name="Text Placeholder 2"/>
          <p:cNvSpPr>
            <a:spLocks noGrp="1"/>
          </p:cNvSpPr>
          <p:nvPr>
            <p:ph type="body" idx="1"/>
          </p:nvPr>
        </p:nvSpPr>
        <p:spPr>
          <a:xfrm>
            <a:off x="429491" y="1352486"/>
            <a:ext cx="8311919" cy="5262979"/>
          </a:xfrm>
        </p:spPr>
        <p:txBody>
          <a:bodyPr/>
          <a:lstStyle/>
          <a:p>
            <a:r>
              <a:rPr lang="en-US" dirty="0"/>
              <a:t>● </a:t>
            </a:r>
            <a:r>
              <a:rPr lang="en-US" b="1" dirty="0"/>
              <a:t>Real-time location tracking – </a:t>
            </a:r>
            <a:r>
              <a:rPr lang="en-US" dirty="0"/>
              <a:t>Track user location during emergencies for faster </a:t>
            </a:r>
            <a:r>
              <a:rPr lang="en-US" dirty="0" smtClean="0"/>
              <a:t>assistance</a:t>
            </a:r>
          </a:p>
          <a:p>
            <a:endParaRPr lang="en-US" dirty="0"/>
          </a:p>
          <a:p>
            <a:r>
              <a:rPr lang="en-US" b="1" dirty="0"/>
              <a:t>● Live alert notifications – </a:t>
            </a:r>
            <a:r>
              <a:rPr lang="en-US" dirty="0"/>
              <a:t>Send instant alerts to emergency contacts via </a:t>
            </a:r>
            <a:r>
              <a:rPr lang="en-US" dirty="0" smtClean="0"/>
              <a:t>SMS/Email</a:t>
            </a:r>
          </a:p>
          <a:p>
            <a:endParaRPr lang="en-US" dirty="0"/>
          </a:p>
          <a:p>
            <a:r>
              <a:rPr lang="en-US" b="1" dirty="0"/>
              <a:t>● Online service integration – </a:t>
            </a:r>
            <a:r>
              <a:rPr lang="en-US" dirty="0"/>
              <a:t>Connect with police helplines and emergency </a:t>
            </a:r>
            <a:r>
              <a:rPr lang="en-US" dirty="0" smtClean="0"/>
              <a:t>services</a:t>
            </a:r>
          </a:p>
          <a:p>
            <a:endParaRPr lang="en-US" dirty="0" smtClean="0"/>
          </a:p>
          <a:p>
            <a:r>
              <a:rPr lang="en-US" dirty="0" smtClean="0"/>
              <a:t>● </a:t>
            </a:r>
            <a:r>
              <a:rPr lang="en-US" b="1" dirty="0"/>
              <a:t>Mobile application – </a:t>
            </a:r>
            <a:r>
              <a:rPr lang="en-US" dirty="0"/>
              <a:t>Develop Android and iOS apps for better </a:t>
            </a:r>
            <a:r>
              <a:rPr lang="en-US" dirty="0" smtClean="0"/>
              <a:t>accessibility</a:t>
            </a:r>
          </a:p>
          <a:p>
            <a:endParaRPr lang="en-US" dirty="0"/>
          </a:p>
          <a:p>
            <a:r>
              <a:rPr lang="en-US" dirty="0"/>
              <a:t>● </a:t>
            </a:r>
            <a:r>
              <a:rPr lang="en-US" b="1" dirty="0"/>
              <a:t>Notifications and alerts – </a:t>
            </a:r>
            <a:r>
              <a:rPr lang="en-US" dirty="0"/>
              <a:t>Provide real-time updates and emergency </a:t>
            </a:r>
            <a:r>
              <a:rPr lang="en-US" dirty="0" smtClean="0"/>
              <a:t>confirmations</a:t>
            </a:r>
          </a:p>
          <a:p>
            <a:endParaRPr lang="en-US" b="1" dirty="0"/>
          </a:p>
          <a:p>
            <a:r>
              <a:rPr lang="en-US" b="1" dirty="0" smtClean="0"/>
              <a:t>● </a:t>
            </a:r>
            <a:r>
              <a:rPr lang="en-US" b="1" dirty="0"/>
              <a:t>Emergency auto-calling feature – </a:t>
            </a:r>
            <a:r>
              <a:rPr lang="en-US" dirty="0"/>
              <a:t>Automatically call saved contacts during critical </a:t>
            </a:r>
            <a:r>
              <a:rPr lang="en-US" dirty="0" smtClean="0"/>
              <a:t>situations</a:t>
            </a:r>
          </a:p>
          <a:p>
            <a:endParaRPr lang="en-US" dirty="0"/>
          </a:p>
          <a:p>
            <a:r>
              <a:rPr lang="en-US" dirty="0"/>
              <a:t>● </a:t>
            </a:r>
            <a:r>
              <a:rPr lang="en-US" b="1" dirty="0"/>
              <a:t>AI-based safety recommendations – </a:t>
            </a:r>
            <a:r>
              <a:rPr lang="en-US" dirty="0"/>
              <a:t>Suggest safe routes and precautions based on user </a:t>
            </a:r>
            <a:r>
              <a:rPr lang="en-US" dirty="0" smtClean="0"/>
              <a:t>behavior</a:t>
            </a:r>
          </a:p>
          <a:p>
            <a:endParaRPr lang="en-US" dirty="0"/>
          </a:p>
          <a:p>
            <a:r>
              <a:rPr lang="en-US" dirty="0"/>
              <a:t>● </a:t>
            </a:r>
            <a:r>
              <a:rPr lang="en-US" b="1" dirty="0"/>
              <a:t>Multi-region expansion – </a:t>
            </a:r>
            <a:r>
              <a:rPr lang="en-US" dirty="0"/>
              <a:t>Expand the platform to serve users across different cities and regions</a:t>
            </a:r>
          </a:p>
        </p:txBody>
      </p:sp>
    </p:spTree>
    <p:extLst>
      <p:ext uri="{BB962C8B-B14F-4D97-AF65-F5344CB8AC3E}">
        <p14:creationId xmlns:p14="http://schemas.microsoft.com/office/powerpoint/2010/main" val="29557083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4195" y="3031108"/>
            <a:ext cx="3982085" cy="1033144"/>
          </a:xfrm>
          <a:prstGeom prst="rect">
            <a:avLst/>
          </a:prstGeom>
        </p:spPr>
        <p:txBody>
          <a:bodyPr vert="horz" wrap="square" lIns="0" tIns="13970" rIns="0" bIns="0" rtlCol="0">
            <a:spAutoFit/>
          </a:bodyPr>
          <a:lstStyle/>
          <a:p>
            <a:pPr marL="12700">
              <a:lnSpc>
                <a:spcPct val="100000"/>
              </a:lnSpc>
              <a:spcBef>
                <a:spcPts val="110"/>
              </a:spcBef>
            </a:pPr>
            <a:r>
              <a:rPr sz="6600" dirty="0"/>
              <a:t>Thank</a:t>
            </a:r>
            <a:r>
              <a:rPr sz="6600" spc="-290" dirty="0"/>
              <a:t> </a:t>
            </a:r>
            <a:r>
              <a:rPr sz="6600" spc="-695" dirty="0"/>
              <a:t>Y</a:t>
            </a:r>
            <a:r>
              <a:rPr sz="6600" spc="25" dirty="0"/>
              <a:t>ou</a:t>
            </a:r>
            <a:endParaRPr sz="66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284</TotalTime>
  <Words>887</Words>
  <Application>Microsoft Office PowerPoint</Application>
  <PresentationFormat>On-screen Show (4:3)</PresentationFormat>
  <Paragraphs>88</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Arial MT</vt:lpstr>
      <vt:lpstr>Calibri</vt:lpstr>
      <vt:lpstr>Calibri </vt:lpstr>
      <vt:lpstr>Times New Roman</vt:lpstr>
      <vt:lpstr>Wingdings</vt:lpstr>
      <vt:lpstr>Office Theme</vt:lpstr>
      <vt:lpstr>Industry Oriented Hands-on Experience</vt:lpstr>
      <vt:lpstr>Sustainable Development Goals</vt:lpstr>
      <vt:lpstr>Introduction</vt:lpstr>
      <vt:lpstr>Problem Statement &amp; Need Statement</vt:lpstr>
      <vt:lpstr>Web Design</vt:lpstr>
      <vt:lpstr>Activity Diagram</vt:lpstr>
      <vt:lpstr>Class Diagram</vt:lpstr>
      <vt:lpstr>Sequence Diagram</vt:lpstr>
      <vt:lpstr>Technology Stack</vt:lpstr>
      <vt:lpstr>Technology Stack</vt:lpstr>
      <vt:lpstr>Login/Signup Page</vt:lpstr>
      <vt:lpstr>Conclusion</vt:lpstr>
      <vt:lpstr>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Integrated Project-II</dc:title>
  <dc:creator>dell</dc:creator>
  <cp:lastModifiedBy>dell</cp:lastModifiedBy>
  <cp:revision>17</cp:revision>
  <dcterms:created xsi:type="dcterms:W3CDTF">2025-09-19T06:09:58Z</dcterms:created>
  <dcterms:modified xsi:type="dcterms:W3CDTF">2026-04-30T11:47:45Z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2025-05-07T00:00:00Z</vt:filetime>
  </property>
  <property fmtid="{D5CDD505-2E9C-101B-9397-08002B2CF9AE}" pid="3" name="LastSaved">
    <vt:filetime>2025-09-19T00:00:00Z</vt:filetime>
  </property>
</Properties>
</file>